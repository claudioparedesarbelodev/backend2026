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272" r:id="rId4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D9C441-162C-2D01-72FC-A83256FB7239}"/>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AR"/>
          </a:p>
        </p:txBody>
      </p:sp>
      <p:sp>
        <p:nvSpPr>
          <p:cNvPr id="3" name="Subtítulo 2">
            <a:extLst>
              <a:ext uri="{FF2B5EF4-FFF2-40B4-BE49-F238E27FC236}">
                <a16:creationId xmlns:a16="http://schemas.microsoft.com/office/drawing/2014/main" id="{C0E3FF8E-3581-082F-0FCD-8E6DFFE4D1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AR"/>
          </a:p>
        </p:txBody>
      </p:sp>
      <p:sp>
        <p:nvSpPr>
          <p:cNvPr id="4" name="Marcador de fecha 3">
            <a:extLst>
              <a:ext uri="{FF2B5EF4-FFF2-40B4-BE49-F238E27FC236}">
                <a16:creationId xmlns:a16="http://schemas.microsoft.com/office/drawing/2014/main" id="{E118159D-5593-9C6E-4197-7B6C77DD5022}"/>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5" name="Marcador de pie de página 4">
            <a:extLst>
              <a:ext uri="{FF2B5EF4-FFF2-40B4-BE49-F238E27FC236}">
                <a16:creationId xmlns:a16="http://schemas.microsoft.com/office/drawing/2014/main" id="{522475E8-2435-8773-7FE7-CA707931926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5119246-6168-1EBD-DA15-C32671D222E4}"/>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372587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D97D95-603F-9CE8-BCD6-63AC270BDFBB}"/>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contenido 2">
            <a:extLst>
              <a:ext uri="{FF2B5EF4-FFF2-40B4-BE49-F238E27FC236}">
                <a16:creationId xmlns:a16="http://schemas.microsoft.com/office/drawing/2014/main" id="{48B716FB-A6C4-415B-8075-23FF8C1F3ACE}"/>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B46D443C-0AF5-E4C8-E94C-AA6376849E8A}"/>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5" name="Marcador de pie de página 4">
            <a:extLst>
              <a:ext uri="{FF2B5EF4-FFF2-40B4-BE49-F238E27FC236}">
                <a16:creationId xmlns:a16="http://schemas.microsoft.com/office/drawing/2014/main" id="{92FCFEA1-7A7E-0357-45CC-3752D2C7938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6F84C9C-25DE-2CCA-D0F4-5BB8EB3805C3}"/>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1130807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1D9E3-5188-1D48-505B-FEEE25925C53}"/>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AR"/>
          </a:p>
        </p:txBody>
      </p:sp>
      <p:sp>
        <p:nvSpPr>
          <p:cNvPr id="3" name="Marcador de texto 2">
            <a:extLst>
              <a:ext uri="{FF2B5EF4-FFF2-40B4-BE49-F238E27FC236}">
                <a16:creationId xmlns:a16="http://schemas.microsoft.com/office/drawing/2014/main" id="{9B2ADE07-2669-4067-73A5-035B3E9A5C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CD9CB7F3-7A42-96AB-FFC3-34DFDAF69410}"/>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5" name="Marcador de pie de página 4">
            <a:extLst>
              <a:ext uri="{FF2B5EF4-FFF2-40B4-BE49-F238E27FC236}">
                <a16:creationId xmlns:a16="http://schemas.microsoft.com/office/drawing/2014/main" id="{4092C7F3-36A3-BA09-0ECF-C6B80C09BC57}"/>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E819181-1606-1879-DC0E-B2F097C2B79F}"/>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2229440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31555-5CCC-2584-BE9E-40F0CB175D47}"/>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contenido 2">
            <a:extLst>
              <a:ext uri="{FF2B5EF4-FFF2-40B4-BE49-F238E27FC236}">
                <a16:creationId xmlns:a16="http://schemas.microsoft.com/office/drawing/2014/main" id="{C40FD7D7-1D59-0848-7CF8-D8AB374011ED}"/>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contenido 3">
            <a:extLst>
              <a:ext uri="{FF2B5EF4-FFF2-40B4-BE49-F238E27FC236}">
                <a16:creationId xmlns:a16="http://schemas.microsoft.com/office/drawing/2014/main" id="{80B04E90-A9D2-4EBB-28BF-32E0B147AE33}"/>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5" name="Marcador de fecha 4">
            <a:extLst>
              <a:ext uri="{FF2B5EF4-FFF2-40B4-BE49-F238E27FC236}">
                <a16:creationId xmlns:a16="http://schemas.microsoft.com/office/drawing/2014/main" id="{E870EEAC-C96F-FB5C-1C91-5BEF73140E38}"/>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6" name="Marcador de pie de página 5">
            <a:extLst>
              <a:ext uri="{FF2B5EF4-FFF2-40B4-BE49-F238E27FC236}">
                <a16:creationId xmlns:a16="http://schemas.microsoft.com/office/drawing/2014/main" id="{8FAA9182-0C1C-7B3A-31A6-2796539835A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19B78E8F-734B-18BD-CB75-D7B930474985}"/>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6475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892BD8-198B-FCAA-EC25-B1FFBB50BA0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AR"/>
          </a:p>
        </p:txBody>
      </p:sp>
      <p:sp>
        <p:nvSpPr>
          <p:cNvPr id="3" name="Marcador de texto 2">
            <a:extLst>
              <a:ext uri="{FF2B5EF4-FFF2-40B4-BE49-F238E27FC236}">
                <a16:creationId xmlns:a16="http://schemas.microsoft.com/office/drawing/2014/main" id="{EAD14267-1AC5-FBBE-AA19-BFD92F7704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EFB1F338-E2E5-3218-65DD-AB1D6954C12C}"/>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5" name="Marcador de texto 4">
            <a:extLst>
              <a:ext uri="{FF2B5EF4-FFF2-40B4-BE49-F238E27FC236}">
                <a16:creationId xmlns:a16="http://schemas.microsoft.com/office/drawing/2014/main" id="{30D5F63F-74D2-BA03-8D9B-1ADFDC8361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299246C-904E-736E-6FE2-31A4733A7528}"/>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7" name="Marcador de fecha 6">
            <a:extLst>
              <a:ext uri="{FF2B5EF4-FFF2-40B4-BE49-F238E27FC236}">
                <a16:creationId xmlns:a16="http://schemas.microsoft.com/office/drawing/2014/main" id="{E8D0F18F-64B3-9C1B-1DAB-9313E389BDF6}"/>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8" name="Marcador de pie de página 7">
            <a:extLst>
              <a:ext uri="{FF2B5EF4-FFF2-40B4-BE49-F238E27FC236}">
                <a16:creationId xmlns:a16="http://schemas.microsoft.com/office/drawing/2014/main" id="{2789DCF4-755B-85C9-54EC-8583CA4F4437}"/>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1C71B00B-E7F1-9CCD-C975-675C0A3EDF84}"/>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2308450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5130F-2A0E-510F-960A-E073D53542BB}"/>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fecha 2">
            <a:extLst>
              <a:ext uri="{FF2B5EF4-FFF2-40B4-BE49-F238E27FC236}">
                <a16:creationId xmlns:a16="http://schemas.microsoft.com/office/drawing/2014/main" id="{1C743695-B85B-7864-D7C4-58565D529823}"/>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4" name="Marcador de pie de página 3">
            <a:extLst>
              <a:ext uri="{FF2B5EF4-FFF2-40B4-BE49-F238E27FC236}">
                <a16:creationId xmlns:a16="http://schemas.microsoft.com/office/drawing/2014/main" id="{93AD8CE0-B147-256B-1F48-1BA4193E5032}"/>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D123CCDB-8A2F-972D-161E-AE8EE153CB15}"/>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284527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8DB7987-69DD-63A7-4861-6079DA94B345}"/>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3" name="Marcador de pie de página 2">
            <a:extLst>
              <a:ext uri="{FF2B5EF4-FFF2-40B4-BE49-F238E27FC236}">
                <a16:creationId xmlns:a16="http://schemas.microsoft.com/office/drawing/2014/main" id="{C26F431D-6798-E9A6-7019-3BDF06DE9DAA}"/>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D6AB60AA-9883-98A9-3733-7A575CDF3C53}"/>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767048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712822-A905-49FB-46F0-34DD6BAC30C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AR"/>
          </a:p>
        </p:txBody>
      </p:sp>
      <p:sp>
        <p:nvSpPr>
          <p:cNvPr id="3" name="Marcador de contenido 2">
            <a:extLst>
              <a:ext uri="{FF2B5EF4-FFF2-40B4-BE49-F238E27FC236}">
                <a16:creationId xmlns:a16="http://schemas.microsoft.com/office/drawing/2014/main" id="{7C877873-1A76-6F5B-4E6F-5ABB5A684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texto 3">
            <a:extLst>
              <a:ext uri="{FF2B5EF4-FFF2-40B4-BE49-F238E27FC236}">
                <a16:creationId xmlns:a16="http://schemas.microsoft.com/office/drawing/2014/main" id="{5B1E6E9B-4CC4-E67C-9E34-869CA9C69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65341B7-3786-E76B-35C4-F17381B99475}"/>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6" name="Marcador de pie de página 5">
            <a:extLst>
              <a:ext uri="{FF2B5EF4-FFF2-40B4-BE49-F238E27FC236}">
                <a16:creationId xmlns:a16="http://schemas.microsoft.com/office/drawing/2014/main" id="{181D35AF-3534-FF90-3578-9D028C75D6B5}"/>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9F8C3B65-E49B-5412-7E78-C17AB5CFD7CF}"/>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1957023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F7B4C-EB97-CF43-FE0F-AD61838F535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AR"/>
          </a:p>
        </p:txBody>
      </p:sp>
      <p:sp>
        <p:nvSpPr>
          <p:cNvPr id="3" name="Marcador de posición de imagen 2">
            <a:extLst>
              <a:ext uri="{FF2B5EF4-FFF2-40B4-BE49-F238E27FC236}">
                <a16:creationId xmlns:a16="http://schemas.microsoft.com/office/drawing/2014/main" id="{9790F0F4-3B2F-338B-1EA0-DDE94F6AFA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001491A6-6CFE-9377-5A42-E81C91E047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BCF65B9-14FD-0D3B-25F0-25FEF5C1F432}"/>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6" name="Marcador de pie de página 5">
            <a:extLst>
              <a:ext uri="{FF2B5EF4-FFF2-40B4-BE49-F238E27FC236}">
                <a16:creationId xmlns:a16="http://schemas.microsoft.com/office/drawing/2014/main" id="{E9A06910-6EB5-D0A2-930E-5A0293986DFB}"/>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0128E92-2B84-AAAC-00D7-DE4B875868C4}"/>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2811149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AE38CB-FF1C-E4AE-612F-3A872E195738}"/>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texto vertical 2">
            <a:extLst>
              <a:ext uri="{FF2B5EF4-FFF2-40B4-BE49-F238E27FC236}">
                <a16:creationId xmlns:a16="http://schemas.microsoft.com/office/drawing/2014/main" id="{AE8A78C3-C3CC-371E-CAF7-5DC3E82588D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CCB2ADBC-C24B-244B-E411-5ED5F4EE0B3D}"/>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5" name="Marcador de pie de página 4">
            <a:extLst>
              <a:ext uri="{FF2B5EF4-FFF2-40B4-BE49-F238E27FC236}">
                <a16:creationId xmlns:a16="http://schemas.microsoft.com/office/drawing/2014/main" id="{A31C936D-2BB9-4852-43C5-3511AA18B3D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D64B213-E698-908A-C8F7-BCE57D2D8CCB}"/>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336293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8FA7F0A-07FC-5938-F9BA-71E80E039719}"/>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AR"/>
          </a:p>
        </p:txBody>
      </p:sp>
      <p:sp>
        <p:nvSpPr>
          <p:cNvPr id="3" name="Marcador de texto vertical 2">
            <a:extLst>
              <a:ext uri="{FF2B5EF4-FFF2-40B4-BE49-F238E27FC236}">
                <a16:creationId xmlns:a16="http://schemas.microsoft.com/office/drawing/2014/main" id="{2AFF833C-EF90-14C8-A202-D86CE170EBC9}"/>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61D675B5-0E84-6FA7-07B7-63204F475E1A}"/>
              </a:ext>
            </a:extLst>
          </p:cNvPr>
          <p:cNvSpPr>
            <a:spLocks noGrp="1"/>
          </p:cNvSpPr>
          <p:nvPr>
            <p:ph type="dt" sz="half" idx="10"/>
          </p:nvPr>
        </p:nvSpPr>
        <p:spPr/>
        <p:txBody>
          <a:bodyPr/>
          <a:lstStyle/>
          <a:p>
            <a:fld id="{95E1F185-9064-4FE7-AB8D-62AE5803BAAC}" type="datetimeFigureOut">
              <a:rPr lang="es-AR" smtClean="0"/>
              <a:t>23/5/2026</a:t>
            </a:fld>
            <a:endParaRPr lang="es-AR"/>
          </a:p>
        </p:txBody>
      </p:sp>
      <p:sp>
        <p:nvSpPr>
          <p:cNvPr id="5" name="Marcador de pie de página 4">
            <a:extLst>
              <a:ext uri="{FF2B5EF4-FFF2-40B4-BE49-F238E27FC236}">
                <a16:creationId xmlns:a16="http://schemas.microsoft.com/office/drawing/2014/main" id="{3171E9ED-1EB4-3829-4541-DF961476585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6228B84-EC9A-083C-7DB1-D6C4049E6E85}"/>
              </a:ext>
            </a:extLst>
          </p:cNvPr>
          <p:cNvSpPr>
            <a:spLocks noGrp="1"/>
          </p:cNvSpPr>
          <p:nvPr>
            <p:ph type="sldNum" sz="quarter" idx="12"/>
          </p:nvPr>
        </p:nvSpPr>
        <p:spPr/>
        <p:txBody>
          <a:bodyPr/>
          <a:lstStyle/>
          <a:p>
            <a:fld id="{D89418E3-56AD-4AA5-9019-9299A651A9A7}" type="slidenum">
              <a:rPr lang="es-AR" smtClean="0"/>
              <a:t>‹Nº›</a:t>
            </a:fld>
            <a:endParaRPr lang="es-AR"/>
          </a:p>
        </p:txBody>
      </p:sp>
    </p:spTree>
    <p:extLst>
      <p:ext uri="{BB962C8B-B14F-4D97-AF65-F5344CB8AC3E}">
        <p14:creationId xmlns:p14="http://schemas.microsoft.com/office/powerpoint/2010/main" val="37668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lumMod val="10000"/>
              </a:schemeClr>
            </a:gs>
            <a:gs pos="50000">
              <a:schemeClr val="accent2">
                <a:lumMod val="50000"/>
              </a:schemeClr>
            </a:gs>
            <a:gs pos="100000">
              <a:schemeClr val="accent2">
                <a:lumMod val="75000"/>
              </a:schemeClr>
            </a:gs>
          </a:gsLst>
          <a:lin ang="5400000" scaled="0"/>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1D321A-A8D9-EC31-2795-BB19F678A9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AR"/>
          </a:p>
        </p:txBody>
      </p:sp>
      <p:sp>
        <p:nvSpPr>
          <p:cNvPr id="3" name="Marcador de texto 2">
            <a:extLst>
              <a:ext uri="{FF2B5EF4-FFF2-40B4-BE49-F238E27FC236}">
                <a16:creationId xmlns:a16="http://schemas.microsoft.com/office/drawing/2014/main" id="{A49670B2-0624-1641-4177-0041F7AFB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B8FF9B8B-01BD-0309-2679-F08458A5F5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1F185-9064-4FE7-AB8D-62AE5803BAAC}" type="datetimeFigureOut">
              <a:rPr lang="es-AR" smtClean="0"/>
              <a:t>23/5/2026</a:t>
            </a:fld>
            <a:endParaRPr lang="es-AR"/>
          </a:p>
        </p:txBody>
      </p:sp>
      <p:sp>
        <p:nvSpPr>
          <p:cNvPr id="5" name="Marcador de pie de página 4">
            <a:extLst>
              <a:ext uri="{FF2B5EF4-FFF2-40B4-BE49-F238E27FC236}">
                <a16:creationId xmlns:a16="http://schemas.microsoft.com/office/drawing/2014/main" id="{78E07722-2AE3-502C-F55C-46C1F8D43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CC842853-5075-6815-1F8A-B7E586B9AF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9418E3-56AD-4AA5-9019-9299A651A9A7}" type="slidenum">
              <a:rPr lang="es-AR" smtClean="0"/>
              <a:t>‹Nº›</a:t>
            </a:fld>
            <a:endParaRPr lang="es-AR"/>
          </a:p>
        </p:txBody>
      </p:sp>
    </p:spTree>
    <p:extLst>
      <p:ext uri="{BB962C8B-B14F-4D97-AF65-F5344CB8AC3E}">
        <p14:creationId xmlns:p14="http://schemas.microsoft.com/office/powerpoint/2010/main" val="1986596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3237C27-8488-E2A9-E1AF-FC5CF67BB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Rectangle 1">
            <a:extLst>
              <a:ext uri="{FF2B5EF4-FFF2-40B4-BE49-F238E27FC236}">
                <a16:creationId xmlns:a16="http://schemas.microsoft.com/office/drawing/2014/main" id="{2C76C0E2-AC92-E515-BE7A-1F9373BD74FC}"/>
              </a:ext>
            </a:extLst>
          </p:cNvPr>
          <p:cNvSpPr/>
          <p:nvPr/>
        </p:nvSpPr>
        <p:spPr>
          <a:xfrm>
            <a:off x="3273489" y="1936102"/>
            <a:ext cx="5645021" cy="2985796"/>
          </a:xfrm>
          <a:prstGeom prst="round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s-AR"/>
          </a:p>
        </p:txBody>
      </p:sp>
      <p:sp>
        <p:nvSpPr>
          <p:cNvPr id="3" name="Google Shape;44;p15">
            <a:extLst>
              <a:ext uri="{FF2B5EF4-FFF2-40B4-BE49-F238E27FC236}">
                <a16:creationId xmlns:a16="http://schemas.microsoft.com/office/drawing/2014/main" id="{E76B7A74-50A5-3094-C13F-7DBAE1AD4BBD}"/>
              </a:ext>
            </a:extLst>
          </p:cNvPr>
          <p:cNvSpPr/>
          <p:nvPr/>
        </p:nvSpPr>
        <p:spPr>
          <a:xfrm>
            <a:off x="4604700" y="3188029"/>
            <a:ext cx="2982600" cy="793800"/>
          </a:xfrm>
          <a:prstGeom prst="rect">
            <a:avLst/>
          </a:prstGeom>
          <a:ln>
            <a:headEnd type="none" w="sm" len="sm"/>
            <a:tailEnd type="none" w="sm" len="s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4" name="Google Shape;45;p15">
            <a:extLst>
              <a:ext uri="{FF2B5EF4-FFF2-40B4-BE49-F238E27FC236}">
                <a16:creationId xmlns:a16="http://schemas.microsoft.com/office/drawing/2014/main" id="{481864E4-B612-BB1D-2DE6-E6AD519FFC7E}"/>
              </a:ext>
            </a:extLst>
          </p:cNvPr>
          <p:cNvSpPr txBox="1"/>
          <p:nvPr/>
        </p:nvSpPr>
        <p:spPr>
          <a:xfrm>
            <a:off x="2985300" y="2442667"/>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spc="50" dirty="0">
                <a:ln w="9525" cmpd="sng">
                  <a:solidFill>
                    <a:schemeClr val="accent1"/>
                  </a:solidFill>
                  <a:prstDash val="solid"/>
                </a:ln>
                <a:solidFill>
                  <a:srgbClr val="70AD47">
                    <a:tint val="1000"/>
                  </a:srgbClr>
                </a:solidFill>
                <a:effectLst>
                  <a:glow rad="38100">
                    <a:schemeClr val="accent1">
                      <a:alpha val="40000"/>
                    </a:schemeClr>
                  </a:glow>
                </a:effectLst>
                <a:latin typeface="DM Sans"/>
                <a:ea typeface="DM Sans"/>
                <a:cs typeface="DM Sans"/>
                <a:sym typeface="DM Sans"/>
              </a:rPr>
              <a:t>Esta clase va a ser</a:t>
            </a:r>
            <a:endParaRPr sz="4000" b="1" spc="50" dirty="0">
              <a:ln w="9525" cmpd="sng">
                <a:solidFill>
                  <a:schemeClr val="accent1"/>
                </a:solidFill>
                <a:prstDash val="solid"/>
              </a:ln>
              <a:solidFill>
                <a:srgbClr val="70AD47">
                  <a:tint val="1000"/>
                </a:srgbClr>
              </a:solidFill>
              <a:effectLst>
                <a:glow rad="38100">
                  <a:schemeClr val="accent1">
                    <a:alpha val="40000"/>
                  </a:schemeClr>
                </a:glow>
              </a:effectLst>
              <a:latin typeface="DM Sans"/>
              <a:ea typeface="DM Sans"/>
              <a:cs typeface="DM Sans"/>
              <a:sym typeface="DM Sans"/>
            </a:endParaRPr>
          </a:p>
        </p:txBody>
      </p:sp>
      <p:sp>
        <p:nvSpPr>
          <p:cNvPr id="6" name="Google Shape;46;p15">
            <a:extLst>
              <a:ext uri="{FF2B5EF4-FFF2-40B4-BE49-F238E27FC236}">
                <a16:creationId xmlns:a16="http://schemas.microsoft.com/office/drawing/2014/main" id="{D60E8D5E-F026-888B-C96F-4E3313DE797B}"/>
              </a:ext>
            </a:extLst>
          </p:cNvPr>
          <p:cNvSpPr txBox="1"/>
          <p:nvPr/>
        </p:nvSpPr>
        <p:spPr>
          <a:xfrm>
            <a:off x="5058377" y="3220514"/>
            <a:ext cx="22275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dirty="0">
                <a:solidFill>
                  <a:schemeClr val="accent6"/>
                </a:solidFill>
                <a:latin typeface="DM Sans"/>
                <a:ea typeface="DM Sans"/>
                <a:cs typeface="DM Sans"/>
                <a:sym typeface="DM Sans"/>
              </a:rPr>
              <a:t>grabada</a:t>
            </a:r>
            <a:endParaRPr sz="4000" b="1" dirty="0">
              <a:solidFill>
                <a:schemeClr val="accent6"/>
              </a:solidFill>
              <a:latin typeface="DM Sans"/>
              <a:ea typeface="DM Sans"/>
              <a:cs typeface="DM Sans"/>
              <a:sym typeface="DM Sans"/>
            </a:endParaRPr>
          </a:p>
        </p:txBody>
      </p:sp>
      <p:sp>
        <p:nvSpPr>
          <p:cNvPr id="8" name="Google Shape;47;p15">
            <a:extLst>
              <a:ext uri="{FF2B5EF4-FFF2-40B4-BE49-F238E27FC236}">
                <a16:creationId xmlns:a16="http://schemas.microsoft.com/office/drawing/2014/main" id="{FC1FBB0F-EACA-0DE6-ED7E-930644E8AAF9}"/>
              </a:ext>
            </a:extLst>
          </p:cNvPr>
          <p:cNvSpPr/>
          <p:nvPr/>
        </p:nvSpPr>
        <p:spPr>
          <a:xfrm>
            <a:off x="4817875" y="3485029"/>
            <a:ext cx="199800" cy="1998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Tree>
    <p:extLst>
      <p:ext uri="{BB962C8B-B14F-4D97-AF65-F5344CB8AC3E}">
        <p14:creationId xmlns:p14="http://schemas.microsoft.com/office/powerpoint/2010/main" val="1007630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053A-F2E4-4E53-65AA-C01803DAECC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4529146-6B45-C6EA-57C4-8CFC81D78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309;p96">
            <a:extLst>
              <a:ext uri="{FF2B5EF4-FFF2-40B4-BE49-F238E27FC236}">
                <a16:creationId xmlns:a16="http://schemas.microsoft.com/office/drawing/2014/main" id="{AF8918EC-D814-5FB5-3484-DF86E16B6B14}"/>
              </a:ext>
            </a:extLst>
          </p:cNvPr>
          <p:cNvSpPr txBox="1"/>
          <p:nvPr/>
        </p:nvSpPr>
        <p:spPr>
          <a:xfrm>
            <a:off x="2985300" y="278250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rgbClr val="EAFF6A"/>
                </a:solidFill>
                <a:latin typeface="DM Sans"/>
                <a:ea typeface="DM Sans"/>
                <a:cs typeface="DM Sans"/>
                <a:sym typeface="DM Sans"/>
              </a:rPr>
              <a:t>Router y Multer &amp; Motores de plantillas</a:t>
            </a:r>
            <a:endParaRPr sz="4000" b="1" i="0" u="none" strike="noStrike" cap="none" dirty="0">
              <a:solidFill>
                <a:srgbClr val="EAFF6A"/>
              </a:solidFill>
              <a:latin typeface="DM Sans"/>
              <a:ea typeface="DM Sans"/>
              <a:cs typeface="DM Sans"/>
              <a:sym typeface="DM Sans"/>
            </a:endParaRPr>
          </a:p>
        </p:txBody>
      </p:sp>
    </p:spTree>
    <p:extLst>
      <p:ext uri="{BB962C8B-B14F-4D97-AF65-F5344CB8AC3E}">
        <p14:creationId xmlns:p14="http://schemas.microsoft.com/office/powerpoint/2010/main" val="1303811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75DB8-0040-7676-4693-D312589B427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608143F-A57E-9800-9F51-4E9605264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397;p101">
            <a:extLst>
              <a:ext uri="{FF2B5EF4-FFF2-40B4-BE49-F238E27FC236}">
                <a16:creationId xmlns:a16="http://schemas.microsoft.com/office/drawing/2014/main" id="{6B184803-452C-54D9-C9E3-C98E00905DFD}"/>
              </a:ext>
            </a:extLst>
          </p:cNvPr>
          <p:cNvSpPr txBox="1"/>
          <p:nvPr/>
        </p:nvSpPr>
        <p:spPr>
          <a:xfrm>
            <a:off x="2336250" y="3059550"/>
            <a:ext cx="75195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lt1"/>
                </a:solidFill>
                <a:latin typeface="DM Sans"/>
                <a:ea typeface="DM Sans"/>
                <a:cs typeface="DM Sans"/>
                <a:sym typeface="DM Sans"/>
              </a:rPr>
              <a:t>Express  </a:t>
            </a:r>
            <a:r>
              <a:rPr lang="es" sz="4000" b="1" dirty="0">
                <a:solidFill>
                  <a:schemeClr val="accent6"/>
                </a:solidFill>
                <a:latin typeface="DM Sans"/>
                <a:ea typeface="DM Sans"/>
                <a:cs typeface="DM Sans"/>
                <a:sym typeface="DM Sans"/>
              </a:rPr>
              <a:t>Router</a:t>
            </a:r>
            <a:endParaRPr sz="4000" b="1" i="0" u="none" strike="noStrike" cap="none"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569369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F3D65-63AA-E997-B6E1-47ED6BB1C48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822AB5D-6491-DEB6-80BC-F5EE20E82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02;p102">
            <a:extLst>
              <a:ext uri="{FF2B5EF4-FFF2-40B4-BE49-F238E27FC236}">
                <a16:creationId xmlns:a16="http://schemas.microsoft.com/office/drawing/2014/main" id="{B9A7CD31-496E-BC80-AC64-8699AEA3C83B}"/>
              </a:ext>
            </a:extLst>
          </p:cNvPr>
          <p:cNvSpPr txBox="1"/>
          <p:nvPr/>
        </p:nvSpPr>
        <p:spPr>
          <a:xfrm>
            <a:off x="1836610" y="1069462"/>
            <a:ext cx="65184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Router en Express</a:t>
            </a:r>
            <a:endParaRPr sz="4000" b="1" i="0" u="none" strike="noStrike" cap="none" dirty="0">
              <a:solidFill>
                <a:schemeClr val="bg1"/>
              </a:solidFill>
              <a:latin typeface="DM Sans"/>
              <a:ea typeface="DM Sans"/>
              <a:cs typeface="DM Sans"/>
              <a:sym typeface="DM Sans"/>
            </a:endParaRPr>
          </a:p>
        </p:txBody>
      </p:sp>
      <p:sp>
        <p:nvSpPr>
          <p:cNvPr id="3" name="Google Shape;403;p102">
            <a:extLst>
              <a:ext uri="{FF2B5EF4-FFF2-40B4-BE49-F238E27FC236}">
                <a16:creationId xmlns:a16="http://schemas.microsoft.com/office/drawing/2014/main" id="{401069EC-82C0-6F1D-C418-668E41B7262C}"/>
              </a:ext>
            </a:extLst>
          </p:cNvPr>
          <p:cNvSpPr txBox="1"/>
          <p:nvPr/>
        </p:nvSpPr>
        <p:spPr>
          <a:xfrm>
            <a:off x="6098210" y="2057612"/>
            <a:ext cx="3894300" cy="2345700"/>
          </a:xfrm>
          <a:prstGeom prst="rect">
            <a:avLst/>
          </a:prstGeom>
          <a:noFill/>
          <a:ln>
            <a:noFill/>
          </a:ln>
        </p:spPr>
        <p:txBody>
          <a:bodyPr spcFirstLastPara="1" wrap="square" lIns="91425" tIns="91425" rIns="91425" bIns="91425" anchor="t" anchorCtr="0">
            <a:spAutoFit/>
          </a:bodyPr>
          <a:lstStyle/>
          <a:p>
            <a:pPr marL="457200" marR="0" lvl="0" indent="0" algn="l" rtl="0">
              <a:lnSpc>
                <a:spcPct val="80000"/>
              </a:lnSpc>
              <a:spcBef>
                <a:spcPts val="0"/>
              </a:spcBef>
              <a:spcAft>
                <a:spcPts val="0"/>
              </a:spcAft>
              <a:buNone/>
            </a:pPr>
            <a:r>
              <a:rPr lang="es" sz="1350">
                <a:solidFill>
                  <a:schemeClr val="bg1"/>
                </a:solidFill>
                <a:latin typeface="DM Sans"/>
                <a:ea typeface="DM Sans"/>
                <a:cs typeface="DM Sans"/>
                <a:sym typeface="DM Sans"/>
              </a:rPr>
              <a:t>Un router en express nos permitirá separar los endpoints “comunes” en entidades separadas que fungirán como “mini aplicaciones”, las cuales tomarán peticiones que concuerden con dicho endpoint y así redireccionarse a esta mini aplicación.</a:t>
            </a:r>
            <a:endParaRPr sz="1350">
              <a:solidFill>
                <a:schemeClr val="bg1"/>
              </a:solidFill>
              <a:latin typeface="DM Sans"/>
              <a:ea typeface="DM Sans"/>
              <a:cs typeface="DM Sans"/>
              <a:sym typeface="DM Sans"/>
            </a:endParaRPr>
          </a:p>
          <a:p>
            <a:pPr marL="457200" marR="0" lvl="0" indent="0" algn="l" rtl="0">
              <a:lnSpc>
                <a:spcPct val="80000"/>
              </a:lnSpc>
              <a:spcBef>
                <a:spcPts val="0"/>
              </a:spcBef>
              <a:spcAft>
                <a:spcPts val="0"/>
              </a:spcAft>
              <a:buNone/>
            </a:pPr>
            <a:endParaRPr sz="1350">
              <a:solidFill>
                <a:schemeClr val="bg1"/>
              </a:solidFill>
              <a:latin typeface="DM Sans"/>
              <a:ea typeface="DM Sans"/>
              <a:cs typeface="DM Sans"/>
              <a:sym typeface="DM Sans"/>
            </a:endParaRPr>
          </a:p>
          <a:p>
            <a:pPr marL="457200" marR="0" lvl="0" indent="0" algn="l" rtl="0">
              <a:lnSpc>
                <a:spcPct val="80000"/>
              </a:lnSpc>
              <a:spcBef>
                <a:spcPts val="0"/>
              </a:spcBef>
              <a:spcAft>
                <a:spcPts val="0"/>
              </a:spcAft>
              <a:buNone/>
            </a:pPr>
            <a:r>
              <a:rPr lang="es" sz="1350">
                <a:solidFill>
                  <a:schemeClr val="bg1"/>
                </a:solidFill>
                <a:latin typeface="DM Sans"/>
                <a:ea typeface="DM Sans"/>
                <a:cs typeface="DM Sans"/>
                <a:sym typeface="DM Sans"/>
              </a:rPr>
              <a:t>De esta manera, nuestro código resultará más organizado, y las diferentes entidades tendrán </a:t>
            </a:r>
            <a:r>
              <a:rPr lang="es" sz="1350" b="1">
                <a:solidFill>
                  <a:schemeClr val="bg1"/>
                </a:solidFill>
                <a:latin typeface="DM Sans"/>
                <a:ea typeface="DM Sans"/>
                <a:cs typeface="DM Sans"/>
                <a:sym typeface="DM Sans"/>
              </a:rPr>
              <a:t>aislado</a:t>
            </a:r>
            <a:r>
              <a:rPr lang="es" sz="1350">
                <a:solidFill>
                  <a:schemeClr val="bg1"/>
                </a:solidFill>
                <a:latin typeface="DM Sans"/>
                <a:ea typeface="DM Sans"/>
                <a:cs typeface="DM Sans"/>
                <a:sym typeface="DM Sans"/>
              </a:rPr>
              <a:t> el comportamiento interno, como configuraciones, middlewares, etc. </a:t>
            </a:r>
            <a:endParaRPr sz="1350">
              <a:solidFill>
                <a:schemeClr val="bg1"/>
              </a:solidFill>
              <a:latin typeface="DM Sans"/>
              <a:ea typeface="DM Sans"/>
              <a:cs typeface="DM Sans"/>
              <a:sym typeface="DM Sans"/>
            </a:endParaRPr>
          </a:p>
        </p:txBody>
      </p:sp>
      <p:sp>
        <p:nvSpPr>
          <p:cNvPr id="4" name="Google Shape;404;p102">
            <a:extLst>
              <a:ext uri="{FF2B5EF4-FFF2-40B4-BE49-F238E27FC236}">
                <a16:creationId xmlns:a16="http://schemas.microsoft.com/office/drawing/2014/main" id="{1D942B66-9CCE-32EF-ACDE-065AF7C7639B}"/>
              </a:ext>
            </a:extLst>
          </p:cNvPr>
          <p:cNvSpPr txBox="1"/>
          <p:nvPr/>
        </p:nvSpPr>
        <p:spPr>
          <a:xfrm>
            <a:off x="1899735" y="2057612"/>
            <a:ext cx="4020000" cy="33432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s" sz="1350">
                <a:solidFill>
                  <a:schemeClr val="bg1"/>
                </a:solidFill>
                <a:latin typeface="DM Sans"/>
                <a:ea typeface="DM Sans"/>
                <a:cs typeface="DM Sans"/>
                <a:sym typeface="DM Sans"/>
              </a:rPr>
              <a:t>En la clase anterior nos encontrábamos con un problema: Al ver que había muchas rutas “iguales” que sólo diferían en métodos, nos dimos cuenta de que el código podría tornarse bastante engorroso.</a:t>
            </a:r>
            <a:endParaRPr sz="1350">
              <a:solidFill>
                <a:schemeClr val="bg1"/>
              </a:solidFill>
              <a:latin typeface="DM Sans"/>
              <a:ea typeface="DM Sans"/>
              <a:cs typeface="DM Sans"/>
              <a:sym typeface="DM Sans"/>
            </a:endParaRPr>
          </a:p>
          <a:p>
            <a:pPr marL="0" lvl="0" indent="0" algn="l" rtl="0">
              <a:lnSpc>
                <a:spcPct val="80000"/>
              </a:lnSpc>
              <a:spcBef>
                <a:spcPts val="0"/>
              </a:spcBef>
              <a:spcAft>
                <a:spcPts val="0"/>
              </a:spcAft>
              <a:buNone/>
            </a:pPr>
            <a:endParaRPr sz="1350">
              <a:solidFill>
                <a:schemeClr val="bg1"/>
              </a:solidFill>
              <a:latin typeface="DM Sans"/>
              <a:ea typeface="DM Sans"/>
              <a:cs typeface="DM Sans"/>
              <a:sym typeface="DM Sans"/>
            </a:endParaRPr>
          </a:p>
          <a:p>
            <a:pPr marL="0" lvl="0" indent="0" algn="l" rtl="0">
              <a:lnSpc>
                <a:spcPct val="80000"/>
              </a:lnSpc>
              <a:spcBef>
                <a:spcPts val="0"/>
              </a:spcBef>
              <a:spcAft>
                <a:spcPts val="0"/>
              </a:spcAft>
              <a:buNone/>
            </a:pPr>
            <a:r>
              <a:rPr lang="es" sz="1350">
                <a:solidFill>
                  <a:schemeClr val="bg1"/>
                </a:solidFill>
                <a:latin typeface="DM Sans"/>
                <a:ea typeface="DM Sans"/>
                <a:cs typeface="DM Sans"/>
                <a:sym typeface="DM Sans"/>
              </a:rPr>
              <a:t>En la clase anterior, mostramos un ejemplo con “usuarios”, ¿pero qué pasaría si tuviéramos…?</a:t>
            </a:r>
            <a:endParaRPr sz="1350">
              <a:solidFill>
                <a:schemeClr val="bg1"/>
              </a:solidFill>
              <a:latin typeface="DM Sans"/>
              <a:ea typeface="DM Sans"/>
              <a:cs typeface="DM Sans"/>
              <a:sym typeface="DM Sans"/>
            </a:endParaRPr>
          </a:p>
          <a:p>
            <a:pPr marL="457200" lvl="0" indent="0" algn="l" rtl="0">
              <a:lnSpc>
                <a:spcPct val="80000"/>
              </a:lnSpc>
              <a:spcBef>
                <a:spcPts val="0"/>
              </a:spcBef>
              <a:spcAft>
                <a:spcPts val="0"/>
              </a:spcAft>
              <a:buNone/>
            </a:pP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Usuarios</a:t>
            </a: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Productos</a:t>
            </a: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Tickets</a:t>
            </a: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Eventos</a:t>
            </a: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Membresías</a:t>
            </a: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Transportes</a:t>
            </a:r>
            <a:endParaRPr sz="1350">
              <a:solidFill>
                <a:schemeClr val="bg1"/>
              </a:solidFill>
              <a:latin typeface="DM Sans"/>
              <a:ea typeface="DM Sans"/>
              <a:cs typeface="DM Sans"/>
              <a:sym typeface="DM Sans"/>
            </a:endParaRPr>
          </a:p>
          <a:p>
            <a:pPr marL="457200" lvl="0" indent="-314325" algn="l" rtl="0">
              <a:lnSpc>
                <a:spcPct val="8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Sucursales</a:t>
            </a:r>
            <a:endParaRPr sz="1350">
              <a:solidFill>
                <a:schemeClr val="bg1"/>
              </a:solidFill>
              <a:latin typeface="DM Sans"/>
              <a:ea typeface="DM Sans"/>
              <a:cs typeface="DM Sans"/>
              <a:sym typeface="DM Sans"/>
            </a:endParaRPr>
          </a:p>
          <a:p>
            <a:pPr marL="0" lvl="0" indent="0" algn="l" rtl="0">
              <a:lnSpc>
                <a:spcPct val="80000"/>
              </a:lnSpc>
              <a:spcBef>
                <a:spcPts val="0"/>
              </a:spcBef>
              <a:spcAft>
                <a:spcPts val="0"/>
              </a:spcAft>
              <a:buNone/>
            </a:pPr>
            <a:endParaRPr sz="1350">
              <a:solidFill>
                <a:schemeClr val="bg1"/>
              </a:solidFill>
              <a:latin typeface="DM Sans"/>
              <a:ea typeface="DM Sans"/>
              <a:cs typeface="DM Sans"/>
              <a:sym typeface="DM Sans"/>
            </a:endParaRPr>
          </a:p>
          <a:p>
            <a:pPr marL="0" lvl="0" indent="0" algn="l" rtl="0">
              <a:lnSpc>
                <a:spcPct val="80000"/>
              </a:lnSpc>
              <a:spcBef>
                <a:spcPts val="0"/>
              </a:spcBef>
              <a:spcAft>
                <a:spcPts val="0"/>
              </a:spcAft>
              <a:buNone/>
            </a:pPr>
            <a:r>
              <a:rPr lang="es" sz="1350">
                <a:solidFill>
                  <a:schemeClr val="bg1"/>
                </a:solidFill>
                <a:latin typeface="DM Sans"/>
                <a:ea typeface="DM Sans"/>
                <a:cs typeface="DM Sans"/>
                <a:sym typeface="DM Sans"/>
              </a:rPr>
              <a:t>¿Cuántos métodos atiborrados tendríamos en un solo archivo?</a:t>
            </a:r>
            <a:endParaRPr sz="135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248074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9339-4A99-6B09-C3FC-A6F34C93280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633BE09-C06F-178A-422F-E0A5FEB1AA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09;p103">
            <a:extLst>
              <a:ext uri="{FF2B5EF4-FFF2-40B4-BE49-F238E27FC236}">
                <a16:creationId xmlns:a16="http://schemas.microsoft.com/office/drawing/2014/main" id="{66A7EF33-5F1F-3924-160C-2305DDBEC57E}"/>
              </a:ext>
            </a:extLst>
          </p:cNvPr>
          <p:cNvSpPr txBox="1"/>
          <p:nvPr/>
        </p:nvSpPr>
        <p:spPr>
          <a:xfrm>
            <a:off x="2224382" y="1525954"/>
            <a:ext cx="50412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¿Cómo aplicar un router?</a:t>
            </a:r>
            <a:endParaRPr sz="4000" b="1" i="0" u="none" strike="noStrike" cap="none" dirty="0">
              <a:solidFill>
                <a:schemeClr val="bg1"/>
              </a:solidFill>
              <a:latin typeface="DM Sans"/>
              <a:ea typeface="DM Sans"/>
              <a:cs typeface="DM Sans"/>
              <a:sym typeface="DM Sans"/>
            </a:endParaRPr>
          </a:p>
        </p:txBody>
      </p:sp>
      <p:sp>
        <p:nvSpPr>
          <p:cNvPr id="3" name="Google Shape;410;p103">
            <a:extLst>
              <a:ext uri="{FF2B5EF4-FFF2-40B4-BE49-F238E27FC236}">
                <a16:creationId xmlns:a16="http://schemas.microsoft.com/office/drawing/2014/main" id="{479FF0B7-CEE3-D8B6-CD73-B116E3B5AC96}"/>
              </a:ext>
            </a:extLst>
          </p:cNvPr>
          <p:cNvSpPr txBox="1"/>
          <p:nvPr/>
        </p:nvSpPr>
        <p:spPr>
          <a:xfrm>
            <a:off x="2224382" y="3055004"/>
            <a:ext cx="47301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Primero recordemos la estructura de nuestro proyecto, hasta el momento, sabemos que la estructura básica de nuestro proyecto consiste en la distribución como lo indica la imagen: una carpeta donde vive el proyecto, dentro una carpeta src donde vivirá nuestro código, y nuestro servidor dentro.</a:t>
            </a:r>
            <a:endParaRPr sz="1350" i="0" u="none" strike="noStrike" cap="none">
              <a:solidFill>
                <a:schemeClr val="bg1"/>
              </a:solidFill>
              <a:latin typeface="DM Sans"/>
              <a:ea typeface="DM Sans"/>
              <a:cs typeface="DM Sans"/>
              <a:sym typeface="DM Sans"/>
            </a:endParaRPr>
          </a:p>
        </p:txBody>
      </p:sp>
      <p:pic>
        <p:nvPicPr>
          <p:cNvPr id="4" name="Google Shape;411;p103">
            <a:extLst>
              <a:ext uri="{FF2B5EF4-FFF2-40B4-BE49-F238E27FC236}">
                <a16:creationId xmlns:a16="http://schemas.microsoft.com/office/drawing/2014/main" id="{2C154F8A-DCC1-BD83-00DF-B337628A257E}"/>
              </a:ext>
            </a:extLst>
          </p:cNvPr>
          <p:cNvPicPr preferRelativeResize="0"/>
          <p:nvPr/>
        </p:nvPicPr>
        <p:blipFill>
          <a:blip r:embed="rId3">
            <a:alphaModFix/>
          </a:blip>
          <a:stretch>
            <a:fillRect/>
          </a:stretch>
        </p:blipFill>
        <p:spPr>
          <a:xfrm>
            <a:off x="7800857" y="1393079"/>
            <a:ext cx="1905000" cy="3848100"/>
          </a:xfrm>
          <a:prstGeom prst="rect">
            <a:avLst/>
          </a:prstGeom>
          <a:noFill/>
          <a:ln>
            <a:noFill/>
          </a:ln>
        </p:spPr>
      </p:pic>
    </p:spTree>
    <p:extLst>
      <p:ext uri="{BB962C8B-B14F-4D97-AF65-F5344CB8AC3E}">
        <p14:creationId xmlns:p14="http://schemas.microsoft.com/office/powerpoint/2010/main" val="331512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B9214-13D1-D1F2-CC05-F4F1F0548C0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81DCE90-DEDA-6A5D-A972-93DE084F7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16;p104">
            <a:extLst>
              <a:ext uri="{FF2B5EF4-FFF2-40B4-BE49-F238E27FC236}">
                <a16:creationId xmlns:a16="http://schemas.microsoft.com/office/drawing/2014/main" id="{1FD79736-3219-DB13-B24D-0F749FCA0C86}"/>
              </a:ext>
            </a:extLst>
          </p:cNvPr>
          <p:cNvSpPr txBox="1"/>
          <p:nvPr/>
        </p:nvSpPr>
        <p:spPr>
          <a:xfrm>
            <a:off x="2251706" y="1490443"/>
            <a:ext cx="50412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¿Cómo aplicar un router?</a:t>
            </a:r>
            <a:endParaRPr sz="4000" b="1" i="0" u="none" strike="noStrike" cap="none" dirty="0">
              <a:solidFill>
                <a:schemeClr val="bg1"/>
              </a:solidFill>
              <a:latin typeface="DM Sans"/>
              <a:ea typeface="DM Sans"/>
              <a:cs typeface="DM Sans"/>
              <a:sym typeface="DM Sans"/>
            </a:endParaRPr>
          </a:p>
        </p:txBody>
      </p:sp>
      <p:sp>
        <p:nvSpPr>
          <p:cNvPr id="3" name="Google Shape;417;p104">
            <a:extLst>
              <a:ext uri="{FF2B5EF4-FFF2-40B4-BE49-F238E27FC236}">
                <a16:creationId xmlns:a16="http://schemas.microsoft.com/office/drawing/2014/main" id="{660873A9-0A99-B3A0-BD36-FCCE57BDBF73}"/>
              </a:ext>
            </a:extLst>
          </p:cNvPr>
          <p:cNvSpPr txBox="1"/>
          <p:nvPr/>
        </p:nvSpPr>
        <p:spPr>
          <a:xfrm>
            <a:off x="2251706" y="3019493"/>
            <a:ext cx="4730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Ahora, agregaremos una carpeta “routes” donde vivirán nuestros diferentes routers (Nota que app.js se queda fuera de routes, pero sigue dentro de src).</a:t>
            </a:r>
            <a:endParaRPr sz="1350" i="0" u="none" strike="noStrike" cap="none">
              <a:solidFill>
                <a:schemeClr val="bg1"/>
              </a:solidFill>
              <a:latin typeface="DM Sans"/>
              <a:ea typeface="DM Sans"/>
              <a:cs typeface="DM Sans"/>
              <a:sym typeface="DM Sans"/>
            </a:endParaRPr>
          </a:p>
        </p:txBody>
      </p:sp>
      <p:pic>
        <p:nvPicPr>
          <p:cNvPr id="4" name="Google Shape;418;p104">
            <a:extLst>
              <a:ext uri="{FF2B5EF4-FFF2-40B4-BE49-F238E27FC236}">
                <a16:creationId xmlns:a16="http://schemas.microsoft.com/office/drawing/2014/main" id="{76741BA5-BBFA-44C5-6E09-3C6B2CDAC30D}"/>
              </a:ext>
            </a:extLst>
          </p:cNvPr>
          <p:cNvPicPr preferRelativeResize="0"/>
          <p:nvPr/>
        </p:nvPicPr>
        <p:blipFill>
          <a:blip r:embed="rId3">
            <a:alphaModFix/>
          </a:blip>
          <a:stretch>
            <a:fillRect/>
          </a:stretch>
        </p:blipFill>
        <p:spPr>
          <a:xfrm>
            <a:off x="7604231" y="1198643"/>
            <a:ext cx="1943100" cy="4029075"/>
          </a:xfrm>
          <a:prstGeom prst="rect">
            <a:avLst/>
          </a:prstGeom>
          <a:noFill/>
          <a:ln>
            <a:noFill/>
          </a:ln>
        </p:spPr>
      </p:pic>
    </p:spTree>
    <p:extLst>
      <p:ext uri="{BB962C8B-B14F-4D97-AF65-F5344CB8AC3E}">
        <p14:creationId xmlns:p14="http://schemas.microsoft.com/office/powerpoint/2010/main" val="3617186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80A03-7691-75C2-C610-65136126F5E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2154DE0-5B4C-14C0-D85D-F2C22BF24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23;p105">
            <a:extLst>
              <a:ext uri="{FF2B5EF4-FFF2-40B4-BE49-F238E27FC236}">
                <a16:creationId xmlns:a16="http://schemas.microsoft.com/office/drawing/2014/main" id="{5984C8C8-8D4A-223F-7406-6309FBEEC1FD}"/>
              </a:ext>
            </a:extLst>
          </p:cNvPr>
          <p:cNvSpPr txBox="1"/>
          <p:nvPr/>
        </p:nvSpPr>
        <p:spPr>
          <a:xfrm>
            <a:off x="1413789" y="938423"/>
            <a:ext cx="5860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Cuerpo de un router</a:t>
            </a:r>
            <a:endParaRPr sz="4000" b="1" i="0" u="none" strike="noStrike" cap="none" dirty="0">
              <a:solidFill>
                <a:schemeClr val="bg1"/>
              </a:solidFill>
              <a:latin typeface="DM Sans"/>
              <a:ea typeface="DM Sans"/>
              <a:cs typeface="DM Sans"/>
              <a:sym typeface="DM Sans"/>
            </a:endParaRPr>
          </a:p>
        </p:txBody>
      </p:sp>
      <p:sp>
        <p:nvSpPr>
          <p:cNvPr id="3" name="Google Shape;424;p105">
            <a:extLst>
              <a:ext uri="{FF2B5EF4-FFF2-40B4-BE49-F238E27FC236}">
                <a16:creationId xmlns:a16="http://schemas.microsoft.com/office/drawing/2014/main" id="{E014D839-D40E-FF93-729C-E38208FD70B5}"/>
              </a:ext>
            </a:extLst>
          </p:cNvPr>
          <p:cNvSpPr txBox="1"/>
          <p:nvPr/>
        </p:nvSpPr>
        <p:spPr>
          <a:xfrm>
            <a:off x="1476189" y="1748873"/>
            <a:ext cx="73017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Para agregar un router a nuestra nueva carpeta, éste debe contener la siguiente sintaxis:</a:t>
            </a:r>
            <a:endParaRPr sz="1350" i="0" u="none" strike="noStrike" cap="none">
              <a:solidFill>
                <a:schemeClr val="bg1"/>
              </a:solidFill>
              <a:latin typeface="DM Sans"/>
              <a:ea typeface="DM Sans"/>
              <a:cs typeface="DM Sans"/>
              <a:sym typeface="DM Sans"/>
            </a:endParaRPr>
          </a:p>
        </p:txBody>
      </p:sp>
      <p:pic>
        <p:nvPicPr>
          <p:cNvPr id="4" name="Google Shape;425;p105">
            <a:extLst>
              <a:ext uri="{FF2B5EF4-FFF2-40B4-BE49-F238E27FC236}">
                <a16:creationId xmlns:a16="http://schemas.microsoft.com/office/drawing/2014/main" id="{400626FD-7CE4-DC95-8CB0-2CF81DF28E89}"/>
              </a:ext>
            </a:extLst>
          </p:cNvPr>
          <p:cNvPicPr preferRelativeResize="0"/>
          <p:nvPr/>
        </p:nvPicPr>
        <p:blipFill>
          <a:blip r:embed="rId3">
            <a:alphaModFix/>
          </a:blip>
          <a:stretch>
            <a:fillRect/>
          </a:stretch>
        </p:blipFill>
        <p:spPr>
          <a:xfrm>
            <a:off x="1476189" y="2622352"/>
            <a:ext cx="8143090" cy="2741564"/>
          </a:xfrm>
          <a:prstGeom prst="rect">
            <a:avLst/>
          </a:prstGeom>
          <a:noFill/>
          <a:ln>
            <a:noFill/>
          </a:ln>
        </p:spPr>
      </p:pic>
    </p:spTree>
    <p:extLst>
      <p:ext uri="{BB962C8B-B14F-4D97-AF65-F5344CB8AC3E}">
        <p14:creationId xmlns:p14="http://schemas.microsoft.com/office/powerpoint/2010/main" val="2661396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8C44C-3758-4762-FCBE-B01F9499133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057E513-63A1-D7BD-9763-DC39A89AD6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49;p108">
            <a:extLst>
              <a:ext uri="{FF2B5EF4-FFF2-40B4-BE49-F238E27FC236}">
                <a16:creationId xmlns:a16="http://schemas.microsoft.com/office/drawing/2014/main" id="{7AA9BAEA-D82F-3DA6-84B3-99F1D54F590B}"/>
              </a:ext>
            </a:extLst>
          </p:cNvPr>
          <p:cNvSpPr txBox="1"/>
          <p:nvPr/>
        </p:nvSpPr>
        <p:spPr>
          <a:xfrm>
            <a:off x="2985300" y="278250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Servicio de archivos estáticos con Express</a:t>
            </a:r>
            <a:endParaRPr sz="4000" b="1" i="0" u="none" strike="noStrike" cap="none"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3253942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C1E1-9553-3A1B-0C45-43448332593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1F2E02E-B311-378D-61E7-D8A1B00CC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54;p109">
            <a:extLst>
              <a:ext uri="{FF2B5EF4-FFF2-40B4-BE49-F238E27FC236}">
                <a16:creationId xmlns:a16="http://schemas.microsoft.com/office/drawing/2014/main" id="{86C6AB99-2CF4-629B-5D36-8425B5EA46B0}"/>
              </a:ext>
            </a:extLst>
          </p:cNvPr>
          <p:cNvSpPr/>
          <p:nvPr/>
        </p:nvSpPr>
        <p:spPr>
          <a:xfrm>
            <a:off x="1943540" y="1846098"/>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Google Shape;455;p109">
            <a:extLst>
              <a:ext uri="{FF2B5EF4-FFF2-40B4-BE49-F238E27FC236}">
                <a16:creationId xmlns:a16="http://schemas.microsoft.com/office/drawing/2014/main" id="{CF386F29-4AA6-224D-0A6D-415A9FE9291F}"/>
              </a:ext>
            </a:extLst>
          </p:cNvPr>
          <p:cNvSpPr txBox="1"/>
          <p:nvPr/>
        </p:nvSpPr>
        <p:spPr>
          <a:xfrm>
            <a:off x="2757440" y="1002923"/>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dirty="0">
                <a:solidFill>
                  <a:schemeClr val="lt1"/>
                </a:solidFill>
                <a:latin typeface="DM Sans"/>
                <a:ea typeface="DM Sans"/>
                <a:cs typeface="DM Sans"/>
                <a:sym typeface="DM Sans"/>
              </a:rPr>
              <a:t>Archivos estáticos</a:t>
            </a:r>
            <a:endParaRPr sz="3500" b="1" i="0" u="none" strike="noStrike" cap="none" dirty="0">
              <a:solidFill>
                <a:schemeClr val="lt1"/>
              </a:solidFill>
              <a:latin typeface="DM Sans"/>
              <a:ea typeface="DM Sans"/>
              <a:cs typeface="DM Sans"/>
              <a:sym typeface="DM Sans"/>
            </a:endParaRPr>
          </a:p>
        </p:txBody>
      </p:sp>
      <p:sp>
        <p:nvSpPr>
          <p:cNvPr id="4" name="Google Shape;456;p109">
            <a:extLst>
              <a:ext uri="{FF2B5EF4-FFF2-40B4-BE49-F238E27FC236}">
                <a16:creationId xmlns:a16="http://schemas.microsoft.com/office/drawing/2014/main" id="{A851F657-2F58-F1D8-CEC9-91BDA79E49B7}"/>
              </a:ext>
            </a:extLst>
          </p:cNvPr>
          <p:cNvSpPr txBox="1"/>
          <p:nvPr/>
        </p:nvSpPr>
        <p:spPr>
          <a:xfrm>
            <a:off x="2213840" y="2434623"/>
            <a:ext cx="4630500" cy="26781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Nuestro servidor tiene la posibilidad de alojar recursos que pueden ser visibles para el cliente de manera directa. </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Podemos configurar una carpeta para que el usuario pueda acceder y ver dichos recursos de manera directa sólo con acceder a la ruta donde se encuentra ubicada.</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En este curso y en proyectos profesionales podrás encontrar estos archivos en la carpeta “public”, haciendo referencia como dice el nombre, a recursos públicos de fácil acceso para el cliente.</a:t>
            </a:r>
            <a:endParaRPr sz="1350">
              <a:latin typeface="DM Sans"/>
              <a:ea typeface="DM Sans"/>
              <a:cs typeface="DM Sans"/>
              <a:sym typeface="DM Sans"/>
            </a:endParaRPr>
          </a:p>
        </p:txBody>
      </p:sp>
      <p:sp>
        <p:nvSpPr>
          <p:cNvPr id="6" name="Google Shape;457;p109">
            <a:extLst>
              <a:ext uri="{FF2B5EF4-FFF2-40B4-BE49-F238E27FC236}">
                <a16:creationId xmlns:a16="http://schemas.microsoft.com/office/drawing/2014/main" id="{94B8F701-FE5A-C6A7-6B33-5BD42D4CCE7F}"/>
              </a:ext>
            </a:extLst>
          </p:cNvPr>
          <p:cNvSpPr txBox="1"/>
          <p:nvPr/>
        </p:nvSpPr>
        <p:spPr>
          <a:xfrm>
            <a:off x="2213840" y="2128348"/>
            <a:ext cx="2166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 b="1">
                <a:latin typeface="DM Sans"/>
                <a:ea typeface="DM Sans"/>
                <a:cs typeface="DM Sans"/>
                <a:sym typeface="DM Sans"/>
              </a:rPr>
              <a:t>¿Cómo funciona?</a:t>
            </a:r>
            <a:endParaRPr sz="1400" b="1" i="0" u="none" strike="noStrike" cap="none">
              <a:solidFill>
                <a:srgbClr val="000000"/>
              </a:solidFill>
              <a:latin typeface="DM Sans"/>
              <a:ea typeface="DM Sans"/>
              <a:cs typeface="DM Sans"/>
              <a:sym typeface="DM Sans"/>
            </a:endParaRPr>
          </a:p>
        </p:txBody>
      </p:sp>
      <p:pic>
        <p:nvPicPr>
          <p:cNvPr id="7" name="Google Shape;458;p109">
            <a:extLst>
              <a:ext uri="{FF2B5EF4-FFF2-40B4-BE49-F238E27FC236}">
                <a16:creationId xmlns:a16="http://schemas.microsoft.com/office/drawing/2014/main" id="{F58C19C5-BB8D-E444-65DE-FEDC6428A31D}"/>
              </a:ext>
            </a:extLst>
          </p:cNvPr>
          <p:cNvPicPr preferRelativeResize="0"/>
          <p:nvPr/>
        </p:nvPicPr>
        <p:blipFill>
          <a:blip r:embed="rId3">
            <a:alphaModFix/>
          </a:blip>
          <a:stretch>
            <a:fillRect/>
          </a:stretch>
        </p:blipFill>
        <p:spPr>
          <a:xfrm>
            <a:off x="6945192" y="2128348"/>
            <a:ext cx="2574496" cy="2765200"/>
          </a:xfrm>
          <a:prstGeom prst="rect">
            <a:avLst/>
          </a:prstGeom>
          <a:noFill/>
          <a:ln>
            <a:noFill/>
          </a:ln>
        </p:spPr>
      </p:pic>
    </p:spTree>
    <p:extLst>
      <p:ext uri="{BB962C8B-B14F-4D97-AF65-F5344CB8AC3E}">
        <p14:creationId xmlns:p14="http://schemas.microsoft.com/office/powerpoint/2010/main" val="3124788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E4A3-41CA-6188-5F35-930FCAE59AA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96FDF61-14CD-5841-B96F-DFC6045EC1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64;p110">
            <a:extLst>
              <a:ext uri="{FF2B5EF4-FFF2-40B4-BE49-F238E27FC236}">
                <a16:creationId xmlns:a16="http://schemas.microsoft.com/office/drawing/2014/main" id="{4BAB39E2-DAD5-BD0C-155D-E7803B6CAE89}"/>
              </a:ext>
            </a:extLst>
          </p:cNvPr>
          <p:cNvSpPr txBox="1"/>
          <p:nvPr/>
        </p:nvSpPr>
        <p:spPr>
          <a:xfrm>
            <a:off x="2588764" y="1100577"/>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dirty="0">
                <a:solidFill>
                  <a:schemeClr val="bg1"/>
                </a:solidFill>
                <a:latin typeface="DM Sans"/>
                <a:ea typeface="DM Sans"/>
                <a:cs typeface="DM Sans"/>
                <a:sym typeface="DM Sans"/>
              </a:rPr>
              <a:t>Archivos estáticos</a:t>
            </a:r>
            <a:endParaRPr sz="3500" b="1" i="0" u="none" strike="noStrike" cap="none" dirty="0">
              <a:solidFill>
                <a:schemeClr val="bg1"/>
              </a:solidFill>
              <a:latin typeface="DM Sans"/>
              <a:ea typeface="DM Sans"/>
              <a:cs typeface="DM Sans"/>
              <a:sym typeface="DM Sans"/>
            </a:endParaRPr>
          </a:p>
        </p:txBody>
      </p:sp>
      <p:sp>
        <p:nvSpPr>
          <p:cNvPr id="3" name="Google Shape;465;p110">
            <a:extLst>
              <a:ext uri="{FF2B5EF4-FFF2-40B4-BE49-F238E27FC236}">
                <a16:creationId xmlns:a16="http://schemas.microsoft.com/office/drawing/2014/main" id="{049D32D2-1C15-C0D0-FE8A-5F0478443BEC}"/>
              </a:ext>
            </a:extLst>
          </p:cNvPr>
          <p:cNvSpPr txBox="1"/>
          <p:nvPr/>
        </p:nvSpPr>
        <p:spPr>
          <a:xfrm>
            <a:off x="2045164" y="2532277"/>
            <a:ext cx="46305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solidFill>
                  <a:schemeClr val="bg1"/>
                </a:solidFill>
                <a:latin typeface="DM Sans"/>
                <a:ea typeface="DM Sans"/>
                <a:cs typeface="DM Sans"/>
                <a:sym typeface="DM Sans"/>
              </a:rPr>
              <a:t>Los dos casos principales para los cuales encontrarás el uso de esta carpeta “public” para archivos estáticos son: </a:t>
            </a:r>
            <a:endParaRPr sz="135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Cuando necesitemos alojar imágenes y servirlas directamente al cliente.</a:t>
            </a:r>
            <a:endParaRPr sz="135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Cuando necesitemos alojar una página web en todos sus sentidos: html, css, js. En esta clase haremos una página sencilla para mostrar el alcance de public.</a:t>
            </a:r>
            <a:endParaRPr sz="1350">
              <a:solidFill>
                <a:schemeClr val="bg1"/>
              </a:solidFill>
              <a:latin typeface="DM Sans"/>
              <a:ea typeface="DM Sans"/>
              <a:cs typeface="DM Sans"/>
              <a:sym typeface="DM Sans"/>
            </a:endParaRPr>
          </a:p>
        </p:txBody>
      </p:sp>
      <p:sp>
        <p:nvSpPr>
          <p:cNvPr id="4" name="Google Shape;466;p110">
            <a:extLst>
              <a:ext uri="{FF2B5EF4-FFF2-40B4-BE49-F238E27FC236}">
                <a16:creationId xmlns:a16="http://schemas.microsoft.com/office/drawing/2014/main" id="{96EED81A-9C2A-AB8D-3902-8516DA8B1CFB}"/>
              </a:ext>
            </a:extLst>
          </p:cNvPr>
          <p:cNvSpPr txBox="1"/>
          <p:nvPr/>
        </p:nvSpPr>
        <p:spPr>
          <a:xfrm>
            <a:off x="2045164" y="2226002"/>
            <a:ext cx="2166300"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 b="1">
                <a:solidFill>
                  <a:schemeClr val="bg1"/>
                </a:solidFill>
                <a:latin typeface="DM Sans"/>
                <a:ea typeface="DM Sans"/>
                <a:cs typeface="DM Sans"/>
                <a:sym typeface="DM Sans"/>
              </a:rPr>
              <a:t>¿Cuándo utilizarlos?</a:t>
            </a:r>
            <a:endParaRPr sz="1400" b="1" i="0" u="none" strike="noStrike" cap="none">
              <a:solidFill>
                <a:schemeClr val="bg1"/>
              </a:solidFill>
              <a:latin typeface="DM Sans"/>
              <a:ea typeface="DM Sans"/>
              <a:cs typeface="DM Sans"/>
              <a:sym typeface="DM Sans"/>
            </a:endParaRPr>
          </a:p>
        </p:txBody>
      </p:sp>
      <p:pic>
        <p:nvPicPr>
          <p:cNvPr id="6" name="Google Shape;467;p110">
            <a:extLst>
              <a:ext uri="{FF2B5EF4-FFF2-40B4-BE49-F238E27FC236}">
                <a16:creationId xmlns:a16="http://schemas.microsoft.com/office/drawing/2014/main" id="{66ABF618-7CC7-14A6-4605-883B7B45A728}"/>
              </a:ext>
            </a:extLst>
          </p:cNvPr>
          <p:cNvPicPr preferRelativeResize="0"/>
          <p:nvPr/>
        </p:nvPicPr>
        <p:blipFill>
          <a:blip r:embed="rId3">
            <a:alphaModFix/>
          </a:blip>
          <a:stretch>
            <a:fillRect/>
          </a:stretch>
        </p:blipFill>
        <p:spPr>
          <a:xfrm>
            <a:off x="6776516" y="2226002"/>
            <a:ext cx="2574496" cy="2765200"/>
          </a:xfrm>
          <a:prstGeom prst="rect">
            <a:avLst/>
          </a:prstGeom>
          <a:noFill/>
          <a:ln>
            <a:noFill/>
          </a:ln>
        </p:spPr>
      </p:pic>
    </p:spTree>
    <p:extLst>
      <p:ext uri="{BB962C8B-B14F-4D97-AF65-F5344CB8AC3E}">
        <p14:creationId xmlns:p14="http://schemas.microsoft.com/office/powerpoint/2010/main" val="3647966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4104E-9FDB-F4DA-D4F5-335AF91F965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2D3AA5F-3434-2CF2-AFAC-5652F1ABF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72;p111">
            <a:extLst>
              <a:ext uri="{FF2B5EF4-FFF2-40B4-BE49-F238E27FC236}">
                <a16:creationId xmlns:a16="http://schemas.microsoft.com/office/drawing/2014/main" id="{6BC70CAE-FDE1-57B1-0E3F-704C72633EDC}"/>
              </a:ext>
            </a:extLst>
          </p:cNvPr>
          <p:cNvSpPr txBox="1"/>
          <p:nvPr/>
        </p:nvSpPr>
        <p:spPr>
          <a:xfrm>
            <a:off x="1535043" y="1420863"/>
            <a:ext cx="86043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500" b="1" dirty="0">
                <a:solidFill>
                  <a:schemeClr val="bg1"/>
                </a:solidFill>
                <a:latin typeface="DM Sans"/>
                <a:ea typeface="DM Sans"/>
                <a:cs typeface="DM Sans"/>
                <a:sym typeface="DM Sans"/>
              </a:rPr>
              <a:t>¿Cómo convertir una carpeta en un recurso estático?</a:t>
            </a:r>
            <a:endParaRPr sz="3500" b="1" dirty="0">
              <a:solidFill>
                <a:schemeClr val="bg1"/>
              </a:solidFill>
              <a:latin typeface="DM Sans"/>
              <a:ea typeface="DM Sans"/>
              <a:cs typeface="DM Sans"/>
              <a:sym typeface="DM Sans"/>
            </a:endParaRPr>
          </a:p>
        </p:txBody>
      </p:sp>
      <p:sp>
        <p:nvSpPr>
          <p:cNvPr id="3" name="Google Shape;473;p111">
            <a:extLst>
              <a:ext uri="{FF2B5EF4-FFF2-40B4-BE49-F238E27FC236}">
                <a16:creationId xmlns:a16="http://schemas.microsoft.com/office/drawing/2014/main" id="{E42D3880-88B5-9B60-9B9D-E580CE436A01}"/>
              </a:ext>
            </a:extLst>
          </p:cNvPr>
          <p:cNvSpPr txBox="1"/>
          <p:nvPr/>
        </p:nvSpPr>
        <p:spPr>
          <a:xfrm>
            <a:off x="1648068" y="2723113"/>
            <a:ext cx="83100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00">
                <a:solidFill>
                  <a:schemeClr val="bg1"/>
                </a:solidFill>
                <a:latin typeface="DM Sans"/>
                <a:ea typeface="DM Sans"/>
                <a:cs typeface="DM Sans"/>
                <a:sym typeface="DM Sans"/>
              </a:rPr>
              <a:t>Para poder utilizar los recursos de una carpeta de manera estática, basta conque en el servidor especifiquemos como “express.static” dicha carpeta con la siguiente sintaxis:</a:t>
            </a:r>
            <a:endParaRPr>
              <a:solidFill>
                <a:schemeClr val="bg1"/>
              </a:solidFill>
            </a:endParaRPr>
          </a:p>
        </p:txBody>
      </p:sp>
      <p:sp>
        <p:nvSpPr>
          <p:cNvPr id="4" name="Google Shape;475;p111">
            <a:extLst>
              <a:ext uri="{FF2B5EF4-FFF2-40B4-BE49-F238E27FC236}">
                <a16:creationId xmlns:a16="http://schemas.microsoft.com/office/drawing/2014/main" id="{212888D0-DE74-2A5B-2710-C91FE3BF8642}"/>
              </a:ext>
            </a:extLst>
          </p:cNvPr>
          <p:cNvSpPr txBox="1"/>
          <p:nvPr/>
        </p:nvSpPr>
        <p:spPr>
          <a:xfrm>
            <a:off x="1733018" y="3692588"/>
            <a:ext cx="77385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bg1"/>
              </a:solidFill>
              <a:latin typeface="DM Sans"/>
              <a:ea typeface="DM Sans"/>
              <a:cs typeface="DM Sans"/>
              <a:sym typeface="DM Sans"/>
            </a:endParaRPr>
          </a:p>
        </p:txBody>
      </p:sp>
      <p:sp>
        <p:nvSpPr>
          <p:cNvPr id="6" name="Google Shape;476;p111">
            <a:extLst>
              <a:ext uri="{FF2B5EF4-FFF2-40B4-BE49-F238E27FC236}">
                <a16:creationId xmlns:a16="http://schemas.microsoft.com/office/drawing/2014/main" id="{4958161C-2577-2F2E-F02B-FBE44FBBE6FF}"/>
              </a:ext>
            </a:extLst>
          </p:cNvPr>
          <p:cNvSpPr txBox="1"/>
          <p:nvPr/>
        </p:nvSpPr>
        <p:spPr>
          <a:xfrm>
            <a:off x="1733018" y="4566663"/>
            <a:ext cx="83100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00">
                <a:solidFill>
                  <a:schemeClr val="bg1"/>
                </a:solidFill>
                <a:latin typeface="DM Sans"/>
                <a:ea typeface="DM Sans"/>
                <a:cs typeface="DM Sans"/>
                <a:sym typeface="DM Sans"/>
              </a:rPr>
              <a:t>Indicamos que, todo lo que viva en la carpeta public, podrá ser accedido directamente desde la carpeta </a:t>
            </a:r>
            <a:r>
              <a:rPr lang="es" sz="1300" i="1">
                <a:solidFill>
                  <a:schemeClr val="bg1"/>
                </a:solidFill>
                <a:latin typeface="DM Sans"/>
                <a:ea typeface="DM Sans"/>
                <a:cs typeface="DM Sans"/>
                <a:sym typeface="DM Sans"/>
              </a:rPr>
              <a:t>public</a:t>
            </a:r>
            <a:r>
              <a:rPr lang="es" sz="1300">
                <a:solidFill>
                  <a:schemeClr val="bg1"/>
                </a:solidFill>
                <a:latin typeface="DM Sans"/>
                <a:ea typeface="DM Sans"/>
                <a:cs typeface="DM Sans"/>
                <a:sym typeface="DM Sans"/>
              </a:rPr>
              <a:t>. </a:t>
            </a:r>
            <a:endParaRPr>
              <a:solidFill>
                <a:schemeClr val="bg1"/>
              </a:solidFill>
            </a:endParaRPr>
          </a:p>
        </p:txBody>
      </p:sp>
      <p:sp>
        <p:nvSpPr>
          <p:cNvPr id="7" name="Google Shape;474;p111">
            <a:extLst>
              <a:ext uri="{FF2B5EF4-FFF2-40B4-BE49-F238E27FC236}">
                <a16:creationId xmlns:a16="http://schemas.microsoft.com/office/drawing/2014/main" id="{D93608ED-8229-BDBC-692D-96CA19F1A735}"/>
              </a:ext>
            </a:extLst>
          </p:cNvPr>
          <p:cNvSpPr txBox="1"/>
          <p:nvPr/>
        </p:nvSpPr>
        <p:spPr>
          <a:xfrm>
            <a:off x="2031077" y="3643308"/>
            <a:ext cx="6144900" cy="430200"/>
          </a:xfrm>
          <a:prstGeom prst="rect">
            <a:avLst/>
          </a:prstGeom>
          <a:solidFill>
            <a:srgbClr val="1E1E1E"/>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650">
                <a:solidFill>
                  <a:srgbClr val="9CDCFE"/>
                </a:solidFill>
                <a:highlight>
                  <a:srgbClr val="1E1E1E"/>
                </a:highlight>
                <a:latin typeface="Courier New"/>
                <a:ea typeface="Courier New"/>
                <a:cs typeface="Courier New"/>
                <a:sym typeface="Courier New"/>
              </a:rPr>
              <a:t>app</a:t>
            </a:r>
            <a:r>
              <a:rPr lang="es" sz="1650">
                <a:solidFill>
                  <a:srgbClr val="D4D4D4"/>
                </a:solidFill>
                <a:highlight>
                  <a:srgbClr val="1E1E1E"/>
                </a:highlight>
                <a:latin typeface="Courier New"/>
                <a:ea typeface="Courier New"/>
                <a:cs typeface="Courier New"/>
                <a:sym typeface="Courier New"/>
              </a:rPr>
              <a:t>.</a:t>
            </a:r>
            <a:r>
              <a:rPr lang="es" sz="1650">
                <a:solidFill>
                  <a:srgbClr val="DCDCAA"/>
                </a:solidFill>
                <a:highlight>
                  <a:srgbClr val="1E1E1E"/>
                </a:highlight>
                <a:latin typeface="Courier New"/>
                <a:ea typeface="Courier New"/>
                <a:cs typeface="Courier New"/>
                <a:sym typeface="Courier New"/>
              </a:rPr>
              <a:t>use</a:t>
            </a:r>
            <a:r>
              <a:rPr lang="es" sz="1650">
                <a:solidFill>
                  <a:srgbClr val="D4D4D4"/>
                </a:solidFill>
                <a:highlight>
                  <a:srgbClr val="1E1E1E"/>
                </a:highlight>
                <a:latin typeface="Courier New"/>
                <a:ea typeface="Courier New"/>
                <a:cs typeface="Courier New"/>
                <a:sym typeface="Courier New"/>
              </a:rPr>
              <a:t>(</a:t>
            </a:r>
            <a:r>
              <a:rPr lang="es" sz="1650">
                <a:solidFill>
                  <a:srgbClr val="9CDCFE"/>
                </a:solidFill>
                <a:highlight>
                  <a:srgbClr val="1E1E1E"/>
                </a:highlight>
                <a:latin typeface="Courier New"/>
                <a:ea typeface="Courier New"/>
                <a:cs typeface="Courier New"/>
                <a:sym typeface="Courier New"/>
              </a:rPr>
              <a:t>express</a:t>
            </a:r>
            <a:r>
              <a:rPr lang="es" sz="1650">
                <a:solidFill>
                  <a:srgbClr val="D4D4D4"/>
                </a:solidFill>
                <a:highlight>
                  <a:srgbClr val="1E1E1E"/>
                </a:highlight>
                <a:latin typeface="Courier New"/>
                <a:ea typeface="Courier New"/>
                <a:cs typeface="Courier New"/>
                <a:sym typeface="Courier New"/>
              </a:rPr>
              <a:t>.</a:t>
            </a:r>
            <a:r>
              <a:rPr lang="es" sz="1650">
                <a:solidFill>
                  <a:srgbClr val="DCDCAA"/>
                </a:solidFill>
                <a:highlight>
                  <a:srgbClr val="1E1E1E"/>
                </a:highlight>
                <a:latin typeface="Courier New"/>
                <a:ea typeface="Courier New"/>
                <a:cs typeface="Courier New"/>
                <a:sym typeface="Courier New"/>
              </a:rPr>
              <a:t>static</a:t>
            </a:r>
            <a:r>
              <a:rPr lang="es" sz="1650">
                <a:solidFill>
                  <a:srgbClr val="D4D4D4"/>
                </a:solidFill>
                <a:highlight>
                  <a:srgbClr val="1E1E1E"/>
                </a:highlight>
                <a:latin typeface="Courier New"/>
                <a:ea typeface="Courier New"/>
                <a:cs typeface="Courier New"/>
                <a:sym typeface="Courier New"/>
              </a:rPr>
              <a:t>(</a:t>
            </a:r>
            <a:r>
              <a:rPr lang="es" sz="1650">
                <a:solidFill>
                  <a:srgbClr val="CE9178"/>
                </a:solidFill>
                <a:highlight>
                  <a:srgbClr val="1E1E1E"/>
                </a:highlight>
                <a:latin typeface="Courier New"/>
                <a:ea typeface="Courier New"/>
                <a:cs typeface="Courier New"/>
                <a:sym typeface="Courier New"/>
              </a:rPr>
              <a:t>'public'</a:t>
            </a:r>
            <a:r>
              <a:rPr lang="es" sz="1650">
                <a:solidFill>
                  <a:srgbClr val="D4D4D4"/>
                </a:solidFill>
                <a:highlight>
                  <a:srgbClr val="1E1E1E"/>
                </a:highlight>
                <a:latin typeface="Courier New"/>
                <a:ea typeface="Courier New"/>
                <a:cs typeface="Courier New"/>
                <a:sym typeface="Courier New"/>
              </a:rPr>
              <a:t>))</a:t>
            </a:r>
            <a:endParaRPr sz="2200">
              <a:solidFill>
                <a:srgbClr val="000000"/>
              </a:solidFill>
              <a:highlight>
                <a:srgbClr val="1E1E1E"/>
              </a:highlight>
              <a:latin typeface="Courier New"/>
              <a:ea typeface="Courier New"/>
              <a:cs typeface="Courier New"/>
              <a:sym typeface="Courier New"/>
            </a:endParaRPr>
          </a:p>
        </p:txBody>
      </p:sp>
    </p:spTree>
    <p:extLst>
      <p:ext uri="{BB962C8B-B14F-4D97-AF65-F5344CB8AC3E}">
        <p14:creationId xmlns:p14="http://schemas.microsoft.com/office/powerpoint/2010/main" val="2335277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6B9A-0CAC-345E-E268-89F8D5A39D7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4C578EF-40C3-6DC0-926B-39994D104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81;p112">
            <a:extLst>
              <a:ext uri="{FF2B5EF4-FFF2-40B4-BE49-F238E27FC236}">
                <a16:creationId xmlns:a16="http://schemas.microsoft.com/office/drawing/2014/main" id="{5B3E4145-3CCA-C171-45E6-8D3DF5FECD76}"/>
              </a:ext>
            </a:extLst>
          </p:cNvPr>
          <p:cNvSpPr txBox="1"/>
          <p:nvPr/>
        </p:nvSpPr>
        <p:spPr>
          <a:xfrm>
            <a:off x="1537909" y="1742856"/>
            <a:ext cx="8209200" cy="52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50" dirty="0">
                <a:solidFill>
                  <a:schemeClr val="dk1"/>
                </a:solidFill>
                <a:highlight>
                  <a:srgbClr val="FFFFFF"/>
                </a:highlight>
                <a:latin typeface="DM Sans"/>
                <a:ea typeface="DM Sans"/>
                <a:cs typeface="DM Sans"/>
                <a:sym typeface="DM Sans"/>
              </a:rPr>
              <a:t>A continuación podemos cargar los archivos que queramos en el directorio </a:t>
            </a:r>
            <a:r>
              <a:rPr lang="es" sz="1350" b="1" dirty="0">
                <a:solidFill>
                  <a:schemeClr val="dk1"/>
                </a:solidFill>
                <a:highlight>
                  <a:srgbClr val="FFFFFF"/>
                </a:highlight>
                <a:latin typeface="DM Sans"/>
                <a:ea typeface="DM Sans"/>
                <a:cs typeface="DM Sans"/>
                <a:sym typeface="DM Sans"/>
              </a:rPr>
              <a:t>public</a:t>
            </a:r>
            <a:r>
              <a:rPr lang="es" sz="1350" dirty="0">
                <a:solidFill>
                  <a:schemeClr val="dk1"/>
                </a:solidFill>
                <a:highlight>
                  <a:srgbClr val="FFFFFF"/>
                </a:highlight>
                <a:latin typeface="DM Sans"/>
                <a:ea typeface="DM Sans"/>
                <a:cs typeface="DM Sans"/>
                <a:sym typeface="DM Sans"/>
              </a:rPr>
              <a:t>:</a:t>
            </a:r>
            <a:endParaRPr sz="1350" dirty="0">
              <a:latin typeface="DM Sans"/>
              <a:ea typeface="DM Sans"/>
              <a:cs typeface="DM Sans"/>
              <a:sym typeface="DM Sans"/>
            </a:endParaRPr>
          </a:p>
        </p:txBody>
      </p:sp>
      <p:sp>
        <p:nvSpPr>
          <p:cNvPr id="3" name="Google Shape;482;p112">
            <a:extLst>
              <a:ext uri="{FF2B5EF4-FFF2-40B4-BE49-F238E27FC236}">
                <a16:creationId xmlns:a16="http://schemas.microsoft.com/office/drawing/2014/main" id="{FC9DC104-C805-7DEC-2879-55AE2CB44E30}"/>
              </a:ext>
            </a:extLst>
          </p:cNvPr>
          <p:cNvSpPr txBox="1"/>
          <p:nvPr/>
        </p:nvSpPr>
        <p:spPr>
          <a:xfrm>
            <a:off x="1569409" y="3915119"/>
            <a:ext cx="8209200" cy="52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50" b="1" i="1">
                <a:solidFill>
                  <a:schemeClr val="dk1"/>
                </a:solidFill>
                <a:highlight>
                  <a:srgbClr val="FFFFFF"/>
                </a:highlight>
                <a:latin typeface="DM Sans"/>
                <a:ea typeface="DM Sans"/>
                <a:cs typeface="DM Sans"/>
                <a:sym typeface="DM Sans"/>
              </a:rPr>
              <a:t>Nota: </a:t>
            </a:r>
            <a:r>
              <a:rPr lang="es" sz="1350" i="1">
                <a:solidFill>
                  <a:schemeClr val="dk1"/>
                </a:solidFill>
                <a:highlight>
                  <a:srgbClr val="FFFFFF"/>
                </a:highlight>
                <a:latin typeface="DM Sans"/>
                <a:ea typeface="DM Sans"/>
                <a:cs typeface="DM Sans"/>
                <a:sym typeface="DM Sans"/>
              </a:rPr>
              <a:t>Express busca los archivos relativos al directorio estático, por lo que el nombre del directorio estático no forma parte del URL.</a:t>
            </a:r>
            <a:endParaRPr sz="1350" i="1">
              <a:solidFill>
                <a:schemeClr val="dk1"/>
              </a:solidFill>
              <a:highlight>
                <a:srgbClr val="FFFFFF"/>
              </a:highlight>
              <a:latin typeface="DM Sans"/>
              <a:ea typeface="DM Sans"/>
              <a:cs typeface="DM Sans"/>
              <a:sym typeface="DM Sans"/>
            </a:endParaRPr>
          </a:p>
          <a:p>
            <a:pPr marL="457200" lvl="0" indent="0" algn="l" rtl="0">
              <a:lnSpc>
                <a:spcPct val="115000"/>
              </a:lnSpc>
              <a:spcBef>
                <a:spcPts val="0"/>
              </a:spcBef>
              <a:spcAft>
                <a:spcPts val="0"/>
              </a:spcAft>
              <a:buNone/>
            </a:pPr>
            <a:endParaRPr sz="2000">
              <a:latin typeface="DM Sans"/>
              <a:ea typeface="DM Sans"/>
              <a:cs typeface="DM Sans"/>
              <a:sym typeface="DM Sans"/>
            </a:endParaRPr>
          </a:p>
        </p:txBody>
      </p:sp>
      <p:sp>
        <p:nvSpPr>
          <p:cNvPr id="4" name="Google Shape;483;p112">
            <a:extLst>
              <a:ext uri="{FF2B5EF4-FFF2-40B4-BE49-F238E27FC236}">
                <a16:creationId xmlns:a16="http://schemas.microsoft.com/office/drawing/2014/main" id="{F1E915C5-667F-74F4-F39B-0C6238C2E298}"/>
              </a:ext>
            </a:extLst>
          </p:cNvPr>
          <p:cNvSpPr txBox="1"/>
          <p:nvPr/>
        </p:nvSpPr>
        <p:spPr>
          <a:xfrm>
            <a:off x="1569409" y="2268909"/>
            <a:ext cx="8500800" cy="14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600">
                <a:solidFill>
                  <a:schemeClr val="dk1"/>
                </a:solidFill>
                <a:highlight>
                  <a:srgbClr val="F7F7F7"/>
                </a:highlight>
                <a:latin typeface="DM Sans"/>
                <a:ea typeface="DM Sans"/>
                <a:cs typeface="DM Sans"/>
                <a:sym typeface="DM Sans"/>
              </a:rPr>
              <a:t>http</a:t>
            </a:r>
            <a:r>
              <a:rPr lang="es" sz="1600">
                <a:solidFill>
                  <a:srgbClr val="999999"/>
                </a:solidFill>
                <a:highlight>
                  <a:srgbClr val="F7F7F7"/>
                </a:highlight>
                <a:latin typeface="DM Sans"/>
                <a:ea typeface="DM Sans"/>
                <a:cs typeface="DM Sans"/>
                <a:sym typeface="DM Sans"/>
              </a:rPr>
              <a:t>:</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localhost</a:t>
            </a:r>
            <a:r>
              <a:rPr lang="es" sz="1600">
                <a:solidFill>
                  <a:srgbClr val="999999"/>
                </a:solidFill>
                <a:highlight>
                  <a:srgbClr val="F7F7F7"/>
                </a:highlight>
                <a:latin typeface="DM Sans"/>
                <a:ea typeface="DM Sans"/>
                <a:cs typeface="DM Sans"/>
                <a:sym typeface="DM Sans"/>
              </a:rPr>
              <a:t>:</a:t>
            </a:r>
            <a:r>
              <a:rPr lang="es" sz="1600">
                <a:solidFill>
                  <a:srgbClr val="990055"/>
                </a:solidFill>
                <a:highlight>
                  <a:srgbClr val="F7F7F7"/>
                </a:highlight>
                <a:latin typeface="DM Sans"/>
                <a:ea typeface="DM Sans"/>
                <a:cs typeface="DM Sans"/>
                <a:sym typeface="DM Sans"/>
              </a:rPr>
              <a:t>3000</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hello</a:t>
            </a:r>
            <a:r>
              <a:rPr lang="es" sz="1600">
                <a:solidFill>
                  <a:srgbClr val="99999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html</a:t>
            </a:r>
            <a:endParaRPr sz="1600">
              <a:solidFill>
                <a:schemeClr val="dk1"/>
              </a:solidFill>
              <a:highlight>
                <a:srgbClr val="F7F7F7"/>
              </a:highlight>
              <a:latin typeface="DM Sans"/>
              <a:ea typeface="DM Sans"/>
              <a:cs typeface="DM Sans"/>
              <a:sym typeface="DM Sans"/>
            </a:endParaRPr>
          </a:p>
          <a:p>
            <a:pPr marL="0" lvl="0" indent="0" algn="l" rtl="0">
              <a:spcBef>
                <a:spcPts val="0"/>
              </a:spcBef>
              <a:spcAft>
                <a:spcPts val="0"/>
              </a:spcAft>
              <a:buNone/>
            </a:pPr>
            <a:r>
              <a:rPr lang="es" sz="1600">
                <a:solidFill>
                  <a:schemeClr val="dk1"/>
                </a:solidFill>
                <a:highlight>
                  <a:srgbClr val="F7F7F7"/>
                </a:highlight>
                <a:latin typeface="DM Sans"/>
                <a:ea typeface="DM Sans"/>
                <a:cs typeface="DM Sans"/>
                <a:sym typeface="DM Sans"/>
              </a:rPr>
              <a:t>http</a:t>
            </a:r>
            <a:r>
              <a:rPr lang="es" sz="1600">
                <a:solidFill>
                  <a:srgbClr val="999999"/>
                </a:solidFill>
                <a:highlight>
                  <a:srgbClr val="F7F7F7"/>
                </a:highlight>
                <a:latin typeface="DM Sans"/>
                <a:ea typeface="DM Sans"/>
                <a:cs typeface="DM Sans"/>
                <a:sym typeface="DM Sans"/>
              </a:rPr>
              <a:t>:</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localhost</a:t>
            </a:r>
            <a:r>
              <a:rPr lang="es" sz="1600">
                <a:solidFill>
                  <a:srgbClr val="999999"/>
                </a:solidFill>
                <a:highlight>
                  <a:srgbClr val="F7F7F7"/>
                </a:highlight>
                <a:latin typeface="DM Sans"/>
                <a:ea typeface="DM Sans"/>
                <a:cs typeface="DM Sans"/>
                <a:sym typeface="DM Sans"/>
              </a:rPr>
              <a:t>:</a:t>
            </a:r>
            <a:r>
              <a:rPr lang="es" sz="1600">
                <a:solidFill>
                  <a:srgbClr val="990055"/>
                </a:solidFill>
                <a:highlight>
                  <a:srgbClr val="F7F7F7"/>
                </a:highlight>
                <a:latin typeface="DM Sans"/>
                <a:ea typeface="DM Sans"/>
                <a:cs typeface="DM Sans"/>
                <a:sym typeface="DM Sans"/>
              </a:rPr>
              <a:t>3000</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images</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kitten</a:t>
            </a:r>
            <a:r>
              <a:rPr lang="es" sz="1600">
                <a:solidFill>
                  <a:srgbClr val="99999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jpg</a:t>
            </a:r>
            <a:endParaRPr sz="1600">
              <a:solidFill>
                <a:schemeClr val="dk1"/>
              </a:solidFill>
              <a:highlight>
                <a:srgbClr val="F7F7F7"/>
              </a:highlight>
              <a:latin typeface="DM Sans"/>
              <a:ea typeface="DM Sans"/>
              <a:cs typeface="DM Sans"/>
              <a:sym typeface="DM Sans"/>
            </a:endParaRPr>
          </a:p>
          <a:p>
            <a:pPr marL="0" lvl="0" indent="0" algn="l" rtl="0">
              <a:spcBef>
                <a:spcPts val="0"/>
              </a:spcBef>
              <a:spcAft>
                <a:spcPts val="0"/>
              </a:spcAft>
              <a:buNone/>
            </a:pPr>
            <a:r>
              <a:rPr lang="es" sz="1600">
                <a:solidFill>
                  <a:schemeClr val="dk1"/>
                </a:solidFill>
                <a:highlight>
                  <a:srgbClr val="F7F7F7"/>
                </a:highlight>
                <a:latin typeface="DM Sans"/>
                <a:ea typeface="DM Sans"/>
                <a:cs typeface="DM Sans"/>
                <a:sym typeface="DM Sans"/>
              </a:rPr>
              <a:t>http</a:t>
            </a:r>
            <a:r>
              <a:rPr lang="es" sz="1600">
                <a:solidFill>
                  <a:srgbClr val="999999"/>
                </a:solidFill>
                <a:highlight>
                  <a:srgbClr val="F7F7F7"/>
                </a:highlight>
                <a:latin typeface="DM Sans"/>
                <a:ea typeface="DM Sans"/>
                <a:cs typeface="DM Sans"/>
                <a:sym typeface="DM Sans"/>
              </a:rPr>
              <a:t>:</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localhost</a:t>
            </a:r>
            <a:r>
              <a:rPr lang="es" sz="1600">
                <a:solidFill>
                  <a:srgbClr val="999999"/>
                </a:solidFill>
                <a:highlight>
                  <a:srgbClr val="F7F7F7"/>
                </a:highlight>
                <a:latin typeface="DM Sans"/>
                <a:ea typeface="DM Sans"/>
                <a:cs typeface="DM Sans"/>
                <a:sym typeface="DM Sans"/>
              </a:rPr>
              <a:t>:</a:t>
            </a:r>
            <a:r>
              <a:rPr lang="es" sz="1600">
                <a:solidFill>
                  <a:srgbClr val="990055"/>
                </a:solidFill>
                <a:highlight>
                  <a:srgbClr val="F7F7F7"/>
                </a:highlight>
                <a:latin typeface="DM Sans"/>
                <a:ea typeface="DM Sans"/>
                <a:cs typeface="DM Sans"/>
                <a:sym typeface="DM Sans"/>
              </a:rPr>
              <a:t>3000</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css</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style</a:t>
            </a:r>
            <a:r>
              <a:rPr lang="es" sz="1600">
                <a:solidFill>
                  <a:srgbClr val="99999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css</a:t>
            </a:r>
            <a:endParaRPr sz="1600">
              <a:solidFill>
                <a:schemeClr val="dk1"/>
              </a:solidFill>
              <a:highlight>
                <a:srgbClr val="F7F7F7"/>
              </a:highlight>
              <a:latin typeface="DM Sans"/>
              <a:ea typeface="DM Sans"/>
              <a:cs typeface="DM Sans"/>
              <a:sym typeface="DM Sans"/>
            </a:endParaRPr>
          </a:p>
          <a:p>
            <a:pPr marL="0" lvl="0" indent="0" algn="l" rtl="0">
              <a:spcBef>
                <a:spcPts val="0"/>
              </a:spcBef>
              <a:spcAft>
                <a:spcPts val="0"/>
              </a:spcAft>
              <a:buNone/>
            </a:pPr>
            <a:r>
              <a:rPr lang="es" sz="1600">
                <a:solidFill>
                  <a:schemeClr val="dk1"/>
                </a:solidFill>
                <a:highlight>
                  <a:srgbClr val="F7F7F7"/>
                </a:highlight>
                <a:latin typeface="DM Sans"/>
                <a:ea typeface="DM Sans"/>
                <a:cs typeface="DM Sans"/>
                <a:sym typeface="DM Sans"/>
              </a:rPr>
              <a:t>http</a:t>
            </a:r>
            <a:r>
              <a:rPr lang="es" sz="1600">
                <a:solidFill>
                  <a:srgbClr val="999999"/>
                </a:solidFill>
                <a:highlight>
                  <a:srgbClr val="F7F7F7"/>
                </a:highlight>
                <a:latin typeface="DM Sans"/>
                <a:ea typeface="DM Sans"/>
                <a:cs typeface="DM Sans"/>
                <a:sym typeface="DM Sans"/>
              </a:rPr>
              <a:t>:</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localhost</a:t>
            </a:r>
            <a:r>
              <a:rPr lang="es" sz="1600">
                <a:solidFill>
                  <a:srgbClr val="999999"/>
                </a:solidFill>
                <a:highlight>
                  <a:srgbClr val="F7F7F7"/>
                </a:highlight>
                <a:latin typeface="DM Sans"/>
                <a:ea typeface="DM Sans"/>
                <a:cs typeface="DM Sans"/>
                <a:sym typeface="DM Sans"/>
              </a:rPr>
              <a:t>:</a:t>
            </a:r>
            <a:r>
              <a:rPr lang="es" sz="1600">
                <a:solidFill>
                  <a:srgbClr val="990055"/>
                </a:solidFill>
                <a:highlight>
                  <a:srgbClr val="F7F7F7"/>
                </a:highlight>
                <a:latin typeface="DM Sans"/>
                <a:ea typeface="DM Sans"/>
                <a:cs typeface="DM Sans"/>
                <a:sym typeface="DM Sans"/>
              </a:rPr>
              <a:t>3000</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js</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app</a:t>
            </a:r>
            <a:r>
              <a:rPr lang="es" sz="1600">
                <a:solidFill>
                  <a:srgbClr val="99999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js</a:t>
            </a:r>
            <a:endParaRPr sz="1600">
              <a:solidFill>
                <a:schemeClr val="dk1"/>
              </a:solidFill>
              <a:highlight>
                <a:srgbClr val="F7F7F7"/>
              </a:highlight>
              <a:latin typeface="DM Sans"/>
              <a:ea typeface="DM Sans"/>
              <a:cs typeface="DM Sans"/>
              <a:sym typeface="DM Sans"/>
            </a:endParaRPr>
          </a:p>
          <a:p>
            <a:pPr marL="0" lvl="0" indent="0" algn="l" rtl="0">
              <a:spcBef>
                <a:spcPts val="0"/>
              </a:spcBef>
              <a:spcAft>
                <a:spcPts val="0"/>
              </a:spcAft>
              <a:buNone/>
            </a:pPr>
            <a:r>
              <a:rPr lang="es" sz="1600">
                <a:solidFill>
                  <a:schemeClr val="dk1"/>
                </a:solidFill>
                <a:highlight>
                  <a:srgbClr val="F7F7F7"/>
                </a:highlight>
                <a:latin typeface="DM Sans"/>
                <a:ea typeface="DM Sans"/>
                <a:cs typeface="DM Sans"/>
                <a:sym typeface="DM Sans"/>
              </a:rPr>
              <a:t>http</a:t>
            </a:r>
            <a:r>
              <a:rPr lang="es" sz="1600">
                <a:solidFill>
                  <a:srgbClr val="999999"/>
                </a:solidFill>
                <a:highlight>
                  <a:srgbClr val="F7F7F7"/>
                </a:highlight>
                <a:latin typeface="DM Sans"/>
                <a:ea typeface="DM Sans"/>
                <a:cs typeface="DM Sans"/>
                <a:sym typeface="DM Sans"/>
              </a:rPr>
              <a:t>:</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localhost</a:t>
            </a:r>
            <a:r>
              <a:rPr lang="es" sz="1600">
                <a:solidFill>
                  <a:srgbClr val="999999"/>
                </a:solidFill>
                <a:highlight>
                  <a:srgbClr val="F7F7F7"/>
                </a:highlight>
                <a:latin typeface="DM Sans"/>
                <a:ea typeface="DM Sans"/>
                <a:cs typeface="DM Sans"/>
                <a:sym typeface="DM Sans"/>
              </a:rPr>
              <a:t>:</a:t>
            </a:r>
            <a:r>
              <a:rPr lang="es" sz="1600">
                <a:solidFill>
                  <a:srgbClr val="990055"/>
                </a:solidFill>
                <a:highlight>
                  <a:srgbClr val="F7F7F7"/>
                </a:highlight>
                <a:latin typeface="DM Sans"/>
                <a:ea typeface="DM Sans"/>
                <a:cs typeface="DM Sans"/>
                <a:sym typeface="DM Sans"/>
              </a:rPr>
              <a:t>3000</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images</a:t>
            </a:r>
            <a:r>
              <a:rPr lang="es" sz="1600">
                <a:solidFill>
                  <a:srgbClr val="A67F5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bg</a:t>
            </a:r>
            <a:r>
              <a:rPr lang="es" sz="1600">
                <a:solidFill>
                  <a:srgbClr val="999999"/>
                </a:solidFill>
                <a:highlight>
                  <a:srgbClr val="F7F7F7"/>
                </a:highlight>
                <a:latin typeface="DM Sans"/>
                <a:ea typeface="DM Sans"/>
                <a:cs typeface="DM Sans"/>
                <a:sym typeface="DM Sans"/>
              </a:rPr>
              <a:t>.</a:t>
            </a:r>
            <a:r>
              <a:rPr lang="es" sz="1600">
                <a:solidFill>
                  <a:schemeClr val="dk1"/>
                </a:solidFill>
                <a:highlight>
                  <a:srgbClr val="F7F7F7"/>
                </a:highlight>
                <a:latin typeface="DM Sans"/>
                <a:ea typeface="DM Sans"/>
                <a:cs typeface="DM Sans"/>
                <a:sym typeface="DM Sans"/>
              </a:rPr>
              <a:t>png</a:t>
            </a:r>
            <a:endParaRPr sz="1600">
              <a:solidFill>
                <a:schemeClr val="dk1"/>
              </a:solidFill>
              <a:latin typeface="DM Sans"/>
              <a:ea typeface="DM Sans"/>
              <a:cs typeface="DM Sans"/>
              <a:sym typeface="DM Sans"/>
            </a:endParaRPr>
          </a:p>
        </p:txBody>
      </p:sp>
    </p:spTree>
    <p:extLst>
      <p:ext uri="{BB962C8B-B14F-4D97-AF65-F5344CB8AC3E}">
        <p14:creationId xmlns:p14="http://schemas.microsoft.com/office/powerpoint/2010/main" val="1328253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6FA3E-2AB4-BEB3-66E0-513EA4FCA48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7859167-9F97-101C-35CB-7D1D3CFA68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88;p113">
            <a:extLst>
              <a:ext uri="{FF2B5EF4-FFF2-40B4-BE49-F238E27FC236}">
                <a16:creationId xmlns:a16="http://schemas.microsoft.com/office/drawing/2014/main" id="{64A03C18-005B-3E9E-E737-642A0D856165}"/>
              </a:ext>
            </a:extLst>
          </p:cNvPr>
          <p:cNvSpPr txBox="1"/>
          <p:nvPr/>
        </p:nvSpPr>
        <p:spPr>
          <a:xfrm>
            <a:off x="1990640" y="2735443"/>
            <a:ext cx="7817700" cy="89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50">
                <a:solidFill>
                  <a:schemeClr val="dk1"/>
                </a:solidFill>
                <a:highlight>
                  <a:srgbClr val="FFFFFF"/>
                </a:highlight>
                <a:latin typeface="DM Sans"/>
                <a:ea typeface="DM Sans"/>
                <a:cs typeface="DM Sans"/>
                <a:sym typeface="DM Sans"/>
              </a:rPr>
              <a:t>Para crear un </a:t>
            </a:r>
            <a:r>
              <a:rPr lang="es" sz="1350" b="1">
                <a:solidFill>
                  <a:schemeClr val="dk1"/>
                </a:solidFill>
                <a:highlight>
                  <a:srgbClr val="FFFFFF"/>
                </a:highlight>
                <a:latin typeface="DM Sans"/>
                <a:ea typeface="DM Sans"/>
                <a:cs typeface="DM Sans"/>
                <a:sym typeface="DM Sans"/>
              </a:rPr>
              <a:t>prefijo virtual</a:t>
            </a:r>
            <a:r>
              <a:rPr lang="es" sz="1350">
                <a:solidFill>
                  <a:schemeClr val="dk1"/>
                </a:solidFill>
                <a:highlight>
                  <a:srgbClr val="FFFFFF"/>
                </a:highlight>
                <a:latin typeface="DM Sans"/>
                <a:ea typeface="DM Sans"/>
                <a:cs typeface="DM Sans"/>
                <a:sym typeface="DM Sans"/>
              </a:rPr>
              <a:t> (donde el path de acceso no existe realmente en el sistema de archivos) para los archivos servidos por express.static, debemos </a:t>
            </a:r>
            <a:r>
              <a:rPr lang="es" sz="1350" b="1">
                <a:solidFill>
                  <a:schemeClr val="dk1"/>
                </a:solidFill>
                <a:highlight>
                  <a:srgbClr val="FFFFFF"/>
                </a:highlight>
                <a:latin typeface="DM Sans"/>
                <a:ea typeface="DM Sans"/>
                <a:cs typeface="DM Sans"/>
                <a:sym typeface="DM Sans"/>
              </a:rPr>
              <a:t>especificar un path de acceso de montaje </a:t>
            </a:r>
            <a:r>
              <a:rPr lang="es" sz="1350">
                <a:solidFill>
                  <a:schemeClr val="dk1"/>
                </a:solidFill>
                <a:highlight>
                  <a:srgbClr val="FFFFFF"/>
                </a:highlight>
                <a:latin typeface="DM Sans"/>
                <a:ea typeface="DM Sans"/>
                <a:cs typeface="DM Sans"/>
                <a:sym typeface="DM Sans"/>
              </a:rPr>
              <a:t>para el directorio estático:</a:t>
            </a:r>
            <a:endParaRPr sz="1350">
              <a:latin typeface="DM Sans"/>
              <a:ea typeface="DM Sans"/>
              <a:cs typeface="DM Sans"/>
              <a:sym typeface="DM Sans"/>
            </a:endParaRPr>
          </a:p>
        </p:txBody>
      </p:sp>
      <p:sp>
        <p:nvSpPr>
          <p:cNvPr id="3" name="Google Shape;489;p113">
            <a:extLst>
              <a:ext uri="{FF2B5EF4-FFF2-40B4-BE49-F238E27FC236}">
                <a16:creationId xmlns:a16="http://schemas.microsoft.com/office/drawing/2014/main" id="{FFFBFEB3-A6CA-B100-6A5B-38FC9B6DEB0A}"/>
              </a:ext>
            </a:extLst>
          </p:cNvPr>
          <p:cNvSpPr txBox="1"/>
          <p:nvPr/>
        </p:nvSpPr>
        <p:spPr>
          <a:xfrm>
            <a:off x="1990640" y="1851043"/>
            <a:ext cx="5666100" cy="7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000" b="1" dirty="0">
                <a:solidFill>
                  <a:schemeClr val="bg1"/>
                </a:solidFill>
                <a:latin typeface="DM Sans"/>
                <a:ea typeface="DM Sans"/>
                <a:cs typeface="DM Sans"/>
                <a:sym typeface="DM Sans"/>
              </a:rPr>
              <a:t>Prefijo virtual</a:t>
            </a:r>
            <a:endParaRPr sz="4000" b="1" dirty="0">
              <a:solidFill>
                <a:schemeClr val="bg1"/>
              </a:solidFill>
              <a:latin typeface="DM Sans"/>
              <a:ea typeface="DM Sans"/>
              <a:cs typeface="DM Sans"/>
              <a:sym typeface="DM Sans"/>
            </a:endParaRPr>
          </a:p>
        </p:txBody>
      </p:sp>
      <p:sp>
        <p:nvSpPr>
          <p:cNvPr id="4" name="Google Shape;490;p113">
            <a:extLst>
              <a:ext uri="{FF2B5EF4-FFF2-40B4-BE49-F238E27FC236}">
                <a16:creationId xmlns:a16="http://schemas.microsoft.com/office/drawing/2014/main" id="{EE72B5E0-2DC5-6975-FE79-107693F7080A}"/>
              </a:ext>
            </a:extLst>
          </p:cNvPr>
          <p:cNvSpPr txBox="1"/>
          <p:nvPr/>
        </p:nvSpPr>
        <p:spPr>
          <a:xfrm>
            <a:off x="2690465" y="3991093"/>
            <a:ext cx="6692700" cy="617700"/>
          </a:xfrm>
          <a:prstGeom prst="rect">
            <a:avLst/>
          </a:prstGeom>
          <a:solidFill>
            <a:srgbClr val="1E1E1E"/>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700">
                <a:solidFill>
                  <a:srgbClr val="9CDCFE"/>
                </a:solidFill>
                <a:highlight>
                  <a:srgbClr val="1E1E1E"/>
                </a:highlight>
                <a:latin typeface="Courier New"/>
                <a:ea typeface="Courier New"/>
                <a:cs typeface="Courier New"/>
                <a:sym typeface="Courier New"/>
              </a:rPr>
              <a:t>app</a:t>
            </a:r>
            <a:r>
              <a:rPr lang="es" sz="1700">
                <a:solidFill>
                  <a:srgbClr val="D4D4D4"/>
                </a:solidFill>
                <a:highlight>
                  <a:srgbClr val="1E1E1E"/>
                </a:highlight>
                <a:latin typeface="Courier New"/>
                <a:ea typeface="Courier New"/>
                <a:cs typeface="Courier New"/>
                <a:sym typeface="Courier New"/>
              </a:rPr>
              <a:t>.</a:t>
            </a:r>
            <a:r>
              <a:rPr lang="es" sz="1700">
                <a:solidFill>
                  <a:srgbClr val="DCDCAA"/>
                </a:solidFill>
                <a:highlight>
                  <a:srgbClr val="1E1E1E"/>
                </a:highlight>
                <a:latin typeface="Courier New"/>
                <a:ea typeface="Courier New"/>
                <a:cs typeface="Courier New"/>
                <a:sym typeface="Courier New"/>
              </a:rPr>
              <a:t>use</a:t>
            </a:r>
            <a:r>
              <a:rPr lang="es" sz="1700">
                <a:solidFill>
                  <a:srgbClr val="D4D4D4"/>
                </a:solidFill>
                <a:highlight>
                  <a:srgbClr val="1E1E1E"/>
                </a:highlight>
                <a:latin typeface="Courier New"/>
                <a:ea typeface="Courier New"/>
                <a:cs typeface="Courier New"/>
                <a:sym typeface="Courier New"/>
              </a:rPr>
              <a:t>(</a:t>
            </a:r>
            <a:r>
              <a:rPr lang="es" sz="1700">
                <a:solidFill>
                  <a:srgbClr val="CE9178"/>
                </a:solidFill>
                <a:highlight>
                  <a:srgbClr val="1E1E1E"/>
                </a:highlight>
                <a:latin typeface="Courier New"/>
                <a:ea typeface="Courier New"/>
                <a:cs typeface="Courier New"/>
                <a:sym typeface="Courier New"/>
              </a:rPr>
              <a:t>'/static'</a:t>
            </a:r>
            <a:r>
              <a:rPr lang="es" sz="1700">
                <a:solidFill>
                  <a:srgbClr val="D4D4D4"/>
                </a:solidFill>
                <a:highlight>
                  <a:srgbClr val="1E1E1E"/>
                </a:highlight>
                <a:latin typeface="Courier New"/>
                <a:ea typeface="Courier New"/>
                <a:cs typeface="Courier New"/>
                <a:sym typeface="Courier New"/>
              </a:rPr>
              <a:t>, </a:t>
            </a:r>
            <a:r>
              <a:rPr lang="es" sz="1700">
                <a:solidFill>
                  <a:srgbClr val="9CDCFE"/>
                </a:solidFill>
                <a:highlight>
                  <a:srgbClr val="1E1E1E"/>
                </a:highlight>
                <a:latin typeface="Courier New"/>
                <a:ea typeface="Courier New"/>
                <a:cs typeface="Courier New"/>
                <a:sym typeface="Courier New"/>
              </a:rPr>
              <a:t>express</a:t>
            </a:r>
            <a:r>
              <a:rPr lang="es" sz="1700">
                <a:solidFill>
                  <a:srgbClr val="D4D4D4"/>
                </a:solidFill>
                <a:highlight>
                  <a:srgbClr val="1E1E1E"/>
                </a:highlight>
                <a:latin typeface="Courier New"/>
                <a:ea typeface="Courier New"/>
                <a:cs typeface="Courier New"/>
                <a:sym typeface="Courier New"/>
              </a:rPr>
              <a:t>.</a:t>
            </a:r>
            <a:r>
              <a:rPr lang="es" sz="1700">
                <a:solidFill>
                  <a:srgbClr val="DCDCAA"/>
                </a:solidFill>
                <a:highlight>
                  <a:srgbClr val="1E1E1E"/>
                </a:highlight>
                <a:latin typeface="Courier New"/>
                <a:ea typeface="Courier New"/>
                <a:cs typeface="Courier New"/>
                <a:sym typeface="Courier New"/>
              </a:rPr>
              <a:t>static</a:t>
            </a:r>
            <a:r>
              <a:rPr lang="es" sz="1700">
                <a:solidFill>
                  <a:srgbClr val="D4D4D4"/>
                </a:solidFill>
                <a:highlight>
                  <a:srgbClr val="1E1E1E"/>
                </a:highlight>
                <a:latin typeface="Courier New"/>
                <a:ea typeface="Courier New"/>
                <a:cs typeface="Courier New"/>
                <a:sym typeface="Courier New"/>
              </a:rPr>
              <a:t>(</a:t>
            </a:r>
            <a:r>
              <a:rPr lang="es" sz="1700">
                <a:solidFill>
                  <a:srgbClr val="CE9178"/>
                </a:solidFill>
                <a:highlight>
                  <a:srgbClr val="1E1E1E"/>
                </a:highlight>
                <a:latin typeface="Courier New"/>
                <a:ea typeface="Courier New"/>
                <a:cs typeface="Courier New"/>
                <a:sym typeface="Courier New"/>
              </a:rPr>
              <a:t>'public'</a:t>
            </a:r>
            <a:r>
              <a:rPr lang="es" sz="1700">
                <a:solidFill>
                  <a:srgbClr val="D4D4D4"/>
                </a:solidFill>
                <a:highlight>
                  <a:srgbClr val="1E1E1E"/>
                </a:highlight>
                <a:latin typeface="Courier New"/>
                <a:ea typeface="Courier New"/>
                <a:cs typeface="Courier New"/>
                <a:sym typeface="Courier New"/>
              </a:rPr>
              <a:t>))</a:t>
            </a:r>
            <a:endParaRPr sz="1700">
              <a:solidFill>
                <a:srgbClr val="999999"/>
              </a:solidFill>
              <a:latin typeface="Courier New"/>
              <a:ea typeface="Courier New"/>
              <a:cs typeface="Courier New"/>
              <a:sym typeface="Courier New"/>
            </a:endParaRPr>
          </a:p>
        </p:txBody>
      </p:sp>
    </p:spTree>
    <p:extLst>
      <p:ext uri="{BB962C8B-B14F-4D97-AF65-F5344CB8AC3E}">
        <p14:creationId xmlns:p14="http://schemas.microsoft.com/office/powerpoint/2010/main" val="351720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ADACB-FDD6-79D8-C3B4-E2AD8916E6A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B36E027-4F2A-DD5F-1A27-99A274528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495;p114">
            <a:extLst>
              <a:ext uri="{FF2B5EF4-FFF2-40B4-BE49-F238E27FC236}">
                <a16:creationId xmlns:a16="http://schemas.microsoft.com/office/drawing/2014/main" id="{215F2F73-6FC7-6DBE-02B8-468A4593E13F}"/>
              </a:ext>
            </a:extLst>
          </p:cNvPr>
          <p:cNvSpPr txBox="1"/>
          <p:nvPr/>
        </p:nvSpPr>
        <p:spPr>
          <a:xfrm>
            <a:off x="1729631" y="2398061"/>
            <a:ext cx="7817700" cy="355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50" dirty="0">
                <a:solidFill>
                  <a:schemeClr val="dk1"/>
                </a:solidFill>
                <a:highlight>
                  <a:srgbClr val="FFFFFF"/>
                </a:highlight>
                <a:latin typeface="DM Sans"/>
                <a:ea typeface="DM Sans"/>
                <a:cs typeface="DM Sans"/>
                <a:sym typeface="DM Sans"/>
              </a:rPr>
              <a:t>Así podemos cargar los archivos que hay en el directorio </a:t>
            </a:r>
            <a:r>
              <a:rPr lang="es" sz="1350" b="1" dirty="0">
                <a:solidFill>
                  <a:schemeClr val="dk1"/>
                </a:solidFill>
                <a:highlight>
                  <a:srgbClr val="FFFFFF"/>
                </a:highlight>
                <a:latin typeface="DM Sans"/>
                <a:ea typeface="DM Sans"/>
                <a:cs typeface="DM Sans"/>
                <a:sym typeface="DM Sans"/>
              </a:rPr>
              <a:t>public </a:t>
            </a:r>
            <a:r>
              <a:rPr lang="es" sz="1350" dirty="0">
                <a:solidFill>
                  <a:schemeClr val="dk1"/>
                </a:solidFill>
                <a:highlight>
                  <a:srgbClr val="FFFFFF"/>
                </a:highlight>
                <a:latin typeface="DM Sans"/>
                <a:ea typeface="DM Sans"/>
                <a:cs typeface="DM Sans"/>
                <a:sym typeface="DM Sans"/>
              </a:rPr>
              <a:t>desde el prefijo </a:t>
            </a:r>
            <a:r>
              <a:rPr lang="es" sz="1350" b="1" dirty="0">
                <a:solidFill>
                  <a:schemeClr val="dk1"/>
                </a:solidFill>
                <a:highlight>
                  <a:srgbClr val="FFFFFF"/>
                </a:highlight>
                <a:latin typeface="DM Sans"/>
                <a:ea typeface="DM Sans"/>
                <a:cs typeface="DM Sans"/>
                <a:sym typeface="DM Sans"/>
              </a:rPr>
              <a:t>/static.</a:t>
            </a:r>
            <a:endParaRPr sz="1350" b="1" dirty="0">
              <a:solidFill>
                <a:schemeClr val="dk1"/>
              </a:solidFill>
              <a:highlight>
                <a:srgbClr val="FFFFFF"/>
              </a:highlight>
              <a:latin typeface="DM Sans"/>
              <a:ea typeface="DM Sans"/>
              <a:cs typeface="DM Sans"/>
              <a:sym typeface="DM Sans"/>
            </a:endParaRPr>
          </a:p>
          <a:p>
            <a:pPr marL="457200" lvl="0" indent="0" algn="l" rtl="0">
              <a:lnSpc>
                <a:spcPct val="115000"/>
              </a:lnSpc>
              <a:spcBef>
                <a:spcPts val="0"/>
              </a:spcBef>
              <a:spcAft>
                <a:spcPts val="0"/>
              </a:spcAft>
              <a:buNone/>
            </a:pPr>
            <a:endParaRPr sz="1350" dirty="0">
              <a:latin typeface="DM Sans"/>
              <a:ea typeface="DM Sans"/>
              <a:cs typeface="DM Sans"/>
              <a:sym typeface="DM Sans"/>
            </a:endParaRPr>
          </a:p>
        </p:txBody>
      </p:sp>
      <p:sp>
        <p:nvSpPr>
          <p:cNvPr id="3" name="Google Shape;496;p114">
            <a:extLst>
              <a:ext uri="{FF2B5EF4-FFF2-40B4-BE49-F238E27FC236}">
                <a16:creationId xmlns:a16="http://schemas.microsoft.com/office/drawing/2014/main" id="{009467F1-5BC3-2440-57B8-6004554D9EF0}"/>
              </a:ext>
            </a:extLst>
          </p:cNvPr>
          <p:cNvSpPr txBox="1"/>
          <p:nvPr/>
        </p:nvSpPr>
        <p:spPr>
          <a:xfrm>
            <a:off x="1867856" y="3025586"/>
            <a:ext cx="6405900" cy="178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600">
                <a:solidFill>
                  <a:schemeClr val="dk1"/>
                </a:solidFill>
                <a:highlight>
                  <a:srgbClr val="F7F7F7"/>
                </a:highlight>
                <a:latin typeface="Courier New"/>
                <a:ea typeface="Courier New"/>
                <a:cs typeface="Courier New"/>
                <a:sym typeface="Courier New"/>
              </a:rPr>
              <a:t>http</a:t>
            </a:r>
            <a:r>
              <a:rPr lang="es" sz="1600">
                <a:solidFill>
                  <a:srgbClr val="999999"/>
                </a:solidFill>
                <a:highlight>
                  <a:srgbClr val="F7F7F7"/>
                </a:highlight>
                <a:latin typeface="Courier New"/>
                <a:ea typeface="Courier New"/>
                <a:cs typeface="Courier New"/>
                <a:sym typeface="Courier New"/>
              </a:rPr>
              <a:t>:</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localhost</a:t>
            </a:r>
            <a:r>
              <a:rPr lang="es" sz="1600">
                <a:solidFill>
                  <a:srgbClr val="999999"/>
                </a:solidFill>
                <a:highlight>
                  <a:srgbClr val="F7F7F7"/>
                </a:highlight>
                <a:latin typeface="Courier New"/>
                <a:ea typeface="Courier New"/>
                <a:cs typeface="Courier New"/>
                <a:sym typeface="Courier New"/>
              </a:rPr>
              <a:t>:</a:t>
            </a:r>
            <a:r>
              <a:rPr lang="es" sz="1600">
                <a:solidFill>
                  <a:srgbClr val="990055"/>
                </a:solidFill>
                <a:highlight>
                  <a:srgbClr val="F7F7F7"/>
                </a:highlight>
                <a:latin typeface="Courier New"/>
                <a:ea typeface="Courier New"/>
                <a:cs typeface="Courier New"/>
                <a:sym typeface="Courier New"/>
              </a:rPr>
              <a:t>3000</a:t>
            </a:r>
            <a:r>
              <a:rPr lang="es" sz="1600">
                <a:solidFill>
                  <a:srgbClr val="A67F59"/>
                </a:solidFill>
                <a:highlight>
                  <a:srgbClr val="F7F7F7"/>
                </a:highlight>
                <a:latin typeface="Courier New"/>
                <a:ea typeface="Courier New"/>
                <a:cs typeface="Courier New"/>
                <a:sym typeface="Courier New"/>
              </a:rPr>
              <a:t>/</a:t>
            </a:r>
            <a:r>
              <a:rPr lang="es" sz="1600">
                <a:solidFill>
                  <a:srgbClr val="0077AA"/>
                </a:solidFill>
                <a:highlight>
                  <a:srgbClr val="F7F7F7"/>
                </a:highlight>
                <a:latin typeface="Courier New"/>
                <a:ea typeface="Courier New"/>
                <a:cs typeface="Courier New"/>
                <a:sym typeface="Courier New"/>
              </a:rPr>
              <a:t>static</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hello</a:t>
            </a:r>
            <a:r>
              <a:rPr lang="es" sz="1600">
                <a:solidFill>
                  <a:srgbClr val="99999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html</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 sz="1600">
                <a:solidFill>
                  <a:schemeClr val="dk1"/>
                </a:solidFill>
                <a:highlight>
                  <a:srgbClr val="F7F7F7"/>
                </a:highlight>
                <a:latin typeface="Courier New"/>
                <a:ea typeface="Courier New"/>
                <a:cs typeface="Courier New"/>
                <a:sym typeface="Courier New"/>
              </a:rPr>
              <a:t>http</a:t>
            </a:r>
            <a:r>
              <a:rPr lang="es" sz="1600">
                <a:solidFill>
                  <a:srgbClr val="999999"/>
                </a:solidFill>
                <a:highlight>
                  <a:srgbClr val="F7F7F7"/>
                </a:highlight>
                <a:latin typeface="Courier New"/>
                <a:ea typeface="Courier New"/>
                <a:cs typeface="Courier New"/>
                <a:sym typeface="Courier New"/>
              </a:rPr>
              <a:t>:</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localhost</a:t>
            </a:r>
            <a:r>
              <a:rPr lang="es" sz="1600">
                <a:solidFill>
                  <a:srgbClr val="999999"/>
                </a:solidFill>
                <a:highlight>
                  <a:srgbClr val="F7F7F7"/>
                </a:highlight>
                <a:latin typeface="Courier New"/>
                <a:ea typeface="Courier New"/>
                <a:cs typeface="Courier New"/>
                <a:sym typeface="Courier New"/>
              </a:rPr>
              <a:t>:</a:t>
            </a:r>
            <a:r>
              <a:rPr lang="es" sz="1600">
                <a:solidFill>
                  <a:srgbClr val="990055"/>
                </a:solidFill>
                <a:highlight>
                  <a:srgbClr val="F7F7F7"/>
                </a:highlight>
                <a:latin typeface="Courier New"/>
                <a:ea typeface="Courier New"/>
                <a:cs typeface="Courier New"/>
                <a:sym typeface="Courier New"/>
              </a:rPr>
              <a:t>3000</a:t>
            </a:r>
            <a:r>
              <a:rPr lang="es" sz="1600">
                <a:solidFill>
                  <a:srgbClr val="A67F59"/>
                </a:solidFill>
                <a:highlight>
                  <a:srgbClr val="F7F7F7"/>
                </a:highlight>
                <a:latin typeface="Courier New"/>
                <a:ea typeface="Courier New"/>
                <a:cs typeface="Courier New"/>
                <a:sym typeface="Courier New"/>
              </a:rPr>
              <a:t>/</a:t>
            </a:r>
            <a:r>
              <a:rPr lang="es" sz="1600">
                <a:solidFill>
                  <a:srgbClr val="0077AA"/>
                </a:solidFill>
                <a:highlight>
                  <a:srgbClr val="F7F7F7"/>
                </a:highlight>
                <a:latin typeface="Courier New"/>
                <a:ea typeface="Courier New"/>
                <a:cs typeface="Courier New"/>
                <a:sym typeface="Courier New"/>
              </a:rPr>
              <a:t>static</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images</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kitten</a:t>
            </a:r>
            <a:r>
              <a:rPr lang="es" sz="1600">
                <a:solidFill>
                  <a:srgbClr val="99999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jpg</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 sz="1600">
                <a:solidFill>
                  <a:schemeClr val="dk1"/>
                </a:solidFill>
                <a:highlight>
                  <a:srgbClr val="F7F7F7"/>
                </a:highlight>
                <a:latin typeface="Courier New"/>
                <a:ea typeface="Courier New"/>
                <a:cs typeface="Courier New"/>
                <a:sym typeface="Courier New"/>
              </a:rPr>
              <a:t>http</a:t>
            </a:r>
            <a:r>
              <a:rPr lang="es" sz="1600">
                <a:solidFill>
                  <a:srgbClr val="999999"/>
                </a:solidFill>
                <a:highlight>
                  <a:srgbClr val="F7F7F7"/>
                </a:highlight>
                <a:latin typeface="Courier New"/>
                <a:ea typeface="Courier New"/>
                <a:cs typeface="Courier New"/>
                <a:sym typeface="Courier New"/>
              </a:rPr>
              <a:t>:</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localhost</a:t>
            </a:r>
            <a:r>
              <a:rPr lang="es" sz="1600">
                <a:solidFill>
                  <a:srgbClr val="999999"/>
                </a:solidFill>
                <a:highlight>
                  <a:srgbClr val="F7F7F7"/>
                </a:highlight>
                <a:latin typeface="Courier New"/>
                <a:ea typeface="Courier New"/>
                <a:cs typeface="Courier New"/>
                <a:sym typeface="Courier New"/>
              </a:rPr>
              <a:t>:</a:t>
            </a:r>
            <a:r>
              <a:rPr lang="es" sz="1600">
                <a:solidFill>
                  <a:srgbClr val="990055"/>
                </a:solidFill>
                <a:highlight>
                  <a:srgbClr val="F7F7F7"/>
                </a:highlight>
                <a:latin typeface="Courier New"/>
                <a:ea typeface="Courier New"/>
                <a:cs typeface="Courier New"/>
                <a:sym typeface="Courier New"/>
              </a:rPr>
              <a:t>3000</a:t>
            </a:r>
            <a:r>
              <a:rPr lang="es" sz="1600">
                <a:solidFill>
                  <a:srgbClr val="A67F59"/>
                </a:solidFill>
                <a:highlight>
                  <a:srgbClr val="F7F7F7"/>
                </a:highlight>
                <a:latin typeface="Courier New"/>
                <a:ea typeface="Courier New"/>
                <a:cs typeface="Courier New"/>
                <a:sym typeface="Courier New"/>
              </a:rPr>
              <a:t>/</a:t>
            </a:r>
            <a:r>
              <a:rPr lang="es" sz="1600">
                <a:solidFill>
                  <a:srgbClr val="0077AA"/>
                </a:solidFill>
                <a:highlight>
                  <a:srgbClr val="F7F7F7"/>
                </a:highlight>
                <a:latin typeface="Courier New"/>
                <a:ea typeface="Courier New"/>
                <a:cs typeface="Courier New"/>
                <a:sym typeface="Courier New"/>
              </a:rPr>
              <a:t>static</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css</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style</a:t>
            </a:r>
            <a:r>
              <a:rPr lang="es" sz="1600">
                <a:solidFill>
                  <a:srgbClr val="99999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css</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 sz="1600">
                <a:solidFill>
                  <a:schemeClr val="dk1"/>
                </a:solidFill>
                <a:highlight>
                  <a:srgbClr val="F7F7F7"/>
                </a:highlight>
                <a:latin typeface="Courier New"/>
                <a:ea typeface="Courier New"/>
                <a:cs typeface="Courier New"/>
                <a:sym typeface="Courier New"/>
              </a:rPr>
              <a:t>http</a:t>
            </a:r>
            <a:r>
              <a:rPr lang="es" sz="1600">
                <a:solidFill>
                  <a:srgbClr val="999999"/>
                </a:solidFill>
                <a:highlight>
                  <a:srgbClr val="F7F7F7"/>
                </a:highlight>
                <a:latin typeface="Courier New"/>
                <a:ea typeface="Courier New"/>
                <a:cs typeface="Courier New"/>
                <a:sym typeface="Courier New"/>
              </a:rPr>
              <a:t>:</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localhost</a:t>
            </a:r>
            <a:r>
              <a:rPr lang="es" sz="1600">
                <a:solidFill>
                  <a:srgbClr val="999999"/>
                </a:solidFill>
                <a:highlight>
                  <a:srgbClr val="F7F7F7"/>
                </a:highlight>
                <a:latin typeface="Courier New"/>
                <a:ea typeface="Courier New"/>
                <a:cs typeface="Courier New"/>
                <a:sym typeface="Courier New"/>
              </a:rPr>
              <a:t>:</a:t>
            </a:r>
            <a:r>
              <a:rPr lang="es" sz="1600">
                <a:solidFill>
                  <a:srgbClr val="990055"/>
                </a:solidFill>
                <a:highlight>
                  <a:srgbClr val="F7F7F7"/>
                </a:highlight>
                <a:latin typeface="Courier New"/>
                <a:ea typeface="Courier New"/>
                <a:cs typeface="Courier New"/>
                <a:sym typeface="Courier New"/>
              </a:rPr>
              <a:t>3000</a:t>
            </a:r>
            <a:r>
              <a:rPr lang="es" sz="1600">
                <a:solidFill>
                  <a:srgbClr val="A67F59"/>
                </a:solidFill>
                <a:highlight>
                  <a:srgbClr val="F7F7F7"/>
                </a:highlight>
                <a:latin typeface="Courier New"/>
                <a:ea typeface="Courier New"/>
                <a:cs typeface="Courier New"/>
                <a:sym typeface="Courier New"/>
              </a:rPr>
              <a:t>/</a:t>
            </a:r>
            <a:r>
              <a:rPr lang="es" sz="1600">
                <a:solidFill>
                  <a:srgbClr val="0077AA"/>
                </a:solidFill>
                <a:highlight>
                  <a:srgbClr val="F7F7F7"/>
                </a:highlight>
                <a:latin typeface="Courier New"/>
                <a:ea typeface="Courier New"/>
                <a:cs typeface="Courier New"/>
                <a:sym typeface="Courier New"/>
              </a:rPr>
              <a:t>static</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js</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app</a:t>
            </a:r>
            <a:r>
              <a:rPr lang="es" sz="1600">
                <a:solidFill>
                  <a:srgbClr val="99999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js</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s" sz="1600">
                <a:solidFill>
                  <a:schemeClr val="dk1"/>
                </a:solidFill>
                <a:highlight>
                  <a:srgbClr val="F7F7F7"/>
                </a:highlight>
                <a:latin typeface="Courier New"/>
                <a:ea typeface="Courier New"/>
                <a:cs typeface="Courier New"/>
                <a:sym typeface="Courier New"/>
              </a:rPr>
              <a:t>http</a:t>
            </a:r>
            <a:r>
              <a:rPr lang="es" sz="1600">
                <a:solidFill>
                  <a:srgbClr val="999999"/>
                </a:solidFill>
                <a:highlight>
                  <a:srgbClr val="F7F7F7"/>
                </a:highlight>
                <a:latin typeface="Courier New"/>
                <a:ea typeface="Courier New"/>
                <a:cs typeface="Courier New"/>
                <a:sym typeface="Courier New"/>
              </a:rPr>
              <a:t>:</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localhost</a:t>
            </a:r>
            <a:r>
              <a:rPr lang="es" sz="1600">
                <a:solidFill>
                  <a:srgbClr val="999999"/>
                </a:solidFill>
                <a:highlight>
                  <a:srgbClr val="F7F7F7"/>
                </a:highlight>
                <a:latin typeface="Courier New"/>
                <a:ea typeface="Courier New"/>
                <a:cs typeface="Courier New"/>
                <a:sym typeface="Courier New"/>
              </a:rPr>
              <a:t>:</a:t>
            </a:r>
            <a:r>
              <a:rPr lang="es" sz="1600">
                <a:solidFill>
                  <a:srgbClr val="990055"/>
                </a:solidFill>
                <a:highlight>
                  <a:srgbClr val="F7F7F7"/>
                </a:highlight>
                <a:latin typeface="Courier New"/>
                <a:ea typeface="Courier New"/>
                <a:cs typeface="Courier New"/>
                <a:sym typeface="Courier New"/>
              </a:rPr>
              <a:t>3000</a:t>
            </a:r>
            <a:r>
              <a:rPr lang="es" sz="1600">
                <a:solidFill>
                  <a:srgbClr val="A67F59"/>
                </a:solidFill>
                <a:highlight>
                  <a:srgbClr val="F7F7F7"/>
                </a:highlight>
                <a:latin typeface="Courier New"/>
                <a:ea typeface="Courier New"/>
                <a:cs typeface="Courier New"/>
                <a:sym typeface="Courier New"/>
              </a:rPr>
              <a:t>/</a:t>
            </a:r>
            <a:r>
              <a:rPr lang="es" sz="1600">
                <a:solidFill>
                  <a:srgbClr val="0077AA"/>
                </a:solidFill>
                <a:highlight>
                  <a:srgbClr val="F7F7F7"/>
                </a:highlight>
                <a:latin typeface="Courier New"/>
                <a:ea typeface="Courier New"/>
                <a:cs typeface="Courier New"/>
                <a:sym typeface="Courier New"/>
              </a:rPr>
              <a:t>static</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images</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bg</a:t>
            </a:r>
            <a:r>
              <a:rPr lang="es" sz="1600">
                <a:solidFill>
                  <a:srgbClr val="99999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png</a:t>
            </a:r>
            <a:endParaRPr sz="1600">
              <a:solidFill>
                <a:schemeClr val="dk1"/>
              </a:solidFill>
              <a:highlight>
                <a:srgbClr val="F7F7F7"/>
              </a:highlight>
              <a:latin typeface="Courier New"/>
              <a:ea typeface="Courier New"/>
              <a:cs typeface="Courier New"/>
              <a:sym typeface="Courier New"/>
            </a:endParaRPr>
          </a:p>
        </p:txBody>
      </p:sp>
    </p:spTree>
    <p:extLst>
      <p:ext uri="{BB962C8B-B14F-4D97-AF65-F5344CB8AC3E}">
        <p14:creationId xmlns:p14="http://schemas.microsoft.com/office/powerpoint/2010/main" val="858731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ED5BA-70A8-D271-E6CF-9AE3415E261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7733F79-9831-514A-7523-F5D15D0E57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01;p115">
            <a:extLst>
              <a:ext uri="{FF2B5EF4-FFF2-40B4-BE49-F238E27FC236}">
                <a16:creationId xmlns:a16="http://schemas.microsoft.com/office/drawing/2014/main" id="{A6F867E6-9685-503F-4F61-AE843466B467}"/>
              </a:ext>
            </a:extLst>
          </p:cNvPr>
          <p:cNvSpPr txBox="1"/>
          <p:nvPr/>
        </p:nvSpPr>
        <p:spPr>
          <a:xfrm>
            <a:off x="1820713" y="2443349"/>
            <a:ext cx="7817700" cy="118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50">
                <a:solidFill>
                  <a:schemeClr val="dk1"/>
                </a:solidFill>
                <a:highlight>
                  <a:srgbClr val="FFFFFF"/>
                </a:highlight>
                <a:latin typeface="DM Sans"/>
                <a:ea typeface="DM Sans"/>
                <a:cs typeface="DM Sans"/>
                <a:sym typeface="DM Sans"/>
              </a:rPr>
              <a:t>El path que se proporciona a la función </a:t>
            </a:r>
            <a:r>
              <a:rPr lang="es" sz="1350" b="1">
                <a:solidFill>
                  <a:schemeClr val="dk1"/>
                </a:solidFill>
                <a:highlight>
                  <a:srgbClr val="FFFFFF"/>
                </a:highlight>
                <a:latin typeface="DM Sans"/>
                <a:ea typeface="DM Sans"/>
                <a:cs typeface="DM Sans"/>
                <a:sym typeface="DM Sans"/>
              </a:rPr>
              <a:t>express.static</a:t>
            </a:r>
            <a:r>
              <a:rPr lang="es" sz="1350">
                <a:solidFill>
                  <a:schemeClr val="dk1"/>
                </a:solidFill>
                <a:highlight>
                  <a:srgbClr val="FFFFFF"/>
                </a:highlight>
                <a:latin typeface="DM Sans"/>
                <a:ea typeface="DM Sans"/>
                <a:cs typeface="DM Sans"/>
                <a:sym typeface="DM Sans"/>
              </a:rPr>
              <a:t> es relativo al directorio desde donde inicia el proceso node.</a:t>
            </a: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solidFill>
                  <a:schemeClr val="dk1"/>
                </a:solidFill>
                <a:highlight>
                  <a:srgbClr val="FFFFFF"/>
                </a:highlight>
                <a:latin typeface="DM Sans"/>
                <a:ea typeface="DM Sans"/>
                <a:cs typeface="DM Sans"/>
                <a:sym typeface="DM Sans"/>
              </a:rPr>
              <a:t>Por eso si ejecutamos la aplicación Express desde cualquier otro directorio, es más seguro utilizar el path absoluto del directorio al que desea dar servicio:</a:t>
            </a:r>
            <a:endParaRPr sz="1350">
              <a:latin typeface="DM Sans"/>
              <a:ea typeface="DM Sans"/>
              <a:cs typeface="DM Sans"/>
              <a:sym typeface="DM Sans"/>
            </a:endParaRPr>
          </a:p>
        </p:txBody>
      </p:sp>
      <p:sp>
        <p:nvSpPr>
          <p:cNvPr id="3" name="Google Shape;502;p115">
            <a:extLst>
              <a:ext uri="{FF2B5EF4-FFF2-40B4-BE49-F238E27FC236}">
                <a16:creationId xmlns:a16="http://schemas.microsoft.com/office/drawing/2014/main" id="{512CEC52-AD04-473A-6C8E-0427E5560135}"/>
              </a:ext>
            </a:extLst>
          </p:cNvPr>
          <p:cNvSpPr txBox="1"/>
          <p:nvPr/>
        </p:nvSpPr>
        <p:spPr>
          <a:xfrm>
            <a:off x="1820713" y="1597824"/>
            <a:ext cx="5666100" cy="7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000" b="1" dirty="0">
                <a:solidFill>
                  <a:schemeClr val="bg1"/>
                </a:solidFill>
                <a:latin typeface="DM Sans"/>
                <a:ea typeface="DM Sans"/>
                <a:cs typeface="DM Sans"/>
                <a:sym typeface="DM Sans"/>
              </a:rPr>
              <a:t>Path absoluto</a:t>
            </a:r>
            <a:endParaRPr sz="4000" b="1" dirty="0">
              <a:solidFill>
                <a:schemeClr val="bg1"/>
              </a:solidFill>
              <a:latin typeface="DM Sans"/>
              <a:ea typeface="DM Sans"/>
              <a:cs typeface="DM Sans"/>
              <a:sym typeface="DM Sans"/>
            </a:endParaRPr>
          </a:p>
        </p:txBody>
      </p:sp>
      <p:sp>
        <p:nvSpPr>
          <p:cNvPr id="4" name="Google Shape;503;p115">
            <a:extLst>
              <a:ext uri="{FF2B5EF4-FFF2-40B4-BE49-F238E27FC236}">
                <a16:creationId xmlns:a16="http://schemas.microsoft.com/office/drawing/2014/main" id="{38FC8D0A-F108-C454-C6A8-FC5A72D30B65}"/>
              </a:ext>
            </a:extLst>
          </p:cNvPr>
          <p:cNvSpPr txBox="1"/>
          <p:nvPr/>
        </p:nvSpPr>
        <p:spPr>
          <a:xfrm>
            <a:off x="2205863" y="3988124"/>
            <a:ext cx="7601400" cy="510300"/>
          </a:xfrm>
          <a:prstGeom prst="rect">
            <a:avLst/>
          </a:prstGeom>
          <a:solidFill>
            <a:srgbClr val="1E1E1E"/>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700">
                <a:solidFill>
                  <a:srgbClr val="9CDCFE"/>
                </a:solidFill>
                <a:highlight>
                  <a:srgbClr val="1E1E1E"/>
                </a:highlight>
                <a:latin typeface="Courier New"/>
                <a:ea typeface="Courier New"/>
                <a:cs typeface="Courier New"/>
                <a:sym typeface="Courier New"/>
              </a:rPr>
              <a:t>app</a:t>
            </a:r>
            <a:r>
              <a:rPr lang="es" sz="1700">
                <a:solidFill>
                  <a:srgbClr val="D4D4D4"/>
                </a:solidFill>
                <a:highlight>
                  <a:srgbClr val="1E1E1E"/>
                </a:highlight>
                <a:latin typeface="Courier New"/>
                <a:ea typeface="Courier New"/>
                <a:cs typeface="Courier New"/>
                <a:sym typeface="Courier New"/>
              </a:rPr>
              <a:t>.</a:t>
            </a:r>
            <a:r>
              <a:rPr lang="es" sz="1700">
                <a:solidFill>
                  <a:srgbClr val="DCDCAA"/>
                </a:solidFill>
                <a:highlight>
                  <a:srgbClr val="1E1E1E"/>
                </a:highlight>
                <a:latin typeface="Courier New"/>
                <a:ea typeface="Courier New"/>
                <a:cs typeface="Courier New"/>
                <a:sym typeface="Courier New"/>
              </a:rPr>
              <a:t>use</a:t>
            </a:r>
            <a:r>
              <a:rPr lang="es" sz="1700">
                <a:solidFill>
                  <a:srgbClr val="D4D4D4"/>
                </a:solidFill>
                <a:highlight>
                  <a:srgbClr val="1E1E1E"/>
                </a:highlight>
                <a:latin typeface="Courier New"/>
                <a:ea typeface="Courier New"/>
                <a:cs typeface="Courier New"/>
                <a:sym typeface="Courier New"/>
              </a:rPr>
              <a:t>(</a:t>
            </a:r>
            <a:r>
              <a:rPr lang="es" sz="1700">
                <a:solidFill>
                  <a:srgbClr val="CE9178"/>
                </a:solidFill>
                <a:highlight>
                  <a:srgbClr val="1E1E1E"/>
                </a:highlight>
                <a:latin typeface="Courier New"/>
                <a:ea typeface="Courier New"/>
                <a:cs typeface="Courier New"/>
                <a:sym typeface="Courier New"/>
              </a:rPr>
              <a:t>'/static'</a:t>
            </a:r>
            <a:r>
              <a:rPr lang="es" sz="1700">
                <a:solidFill>
                  <a:srgbClr val="D4D4D4"/>
                </a:solidFill>
                <a:highlight>
                  <a:srgbClr val="1E1E1E"/>
                </a:highlight>
                <a:latin typeface="Courier New"/>
                <a:ea typeface="Courier New"/>
                <a:cs typeface="Courier New"/>
                <a:sym typeface="Courier New"/>
              </a:rPr>
              <a:t>, </a:t>
            </a:r>
            <a:r>
              <a:rPr lang="es" sz="1700">
                <a:solidFill>
                  <a:srgbClr val="9CDCFE"/>
                </a:solidFill>
                <a:highlight>
                  <a:srgbClr val="1E1E1E"/>
                </a:highlight>
                <a:latin typeface="Courier New"/>
                <a:ea typeface="Courier New"/>
                <a:cs typeface="Courier New"/>
                <a:sym typeface="Courier New"/>
              </a:rPr>
              <a:t>express</a:t>
            </a:r>
            <a:r>
              <a:rPr lang="es" sz="1700">
                <a:solidFill>
                  <a:srgbClr val="D4D4D4"/>
                </a:solidFill>
                <a:highlight>
                  <a:srgbClr val="1E1E1E"/>
                </a:highlight>
                <a:latin typeface="Courier New"/>
                <a:ea typeface="Courier New"/>
                <a:cs typeface="Courier New"/>
                <a:sym typeface="Courier New"/>
              </a:rPr>
              <a:t>.</a:t>
            </a:r>
            <a:r>
              <a:rPr lang="es" sz="1700">
                <a:solidFill>
                  <a:srgbClr val="DCDCAA"/>
                </a:solidFill>
                <a:highlight>
                  <a:srgbClr val="1E1E1E"/>
                </a:highlight>
                <a:latin typeface="Courier New"/>
                <a:ea typeface="Courier New"/>
                <a:cs typeface="Courier New"/>
                <a:sym typeface="Courier New"/>
              </a:rPr>
              <a:t>static</a:t>
            </a:r>
            <a:r>
              <a:rPr lang="es" sz="1700">
                <a:solidFill>
                  <a:srgbClr val="D4D4D4"/>
                </a:solidFill>
                <a:highlight>
                  <a:srgbClr val="1E1E1E"/>
                </a:highlight>
                <a:latin typeface="Courier New"/>
                <a:ea typeface="Courier New"/>
                <a:cs typeface="Courier New"/>
                <a:sym typeface="Courier New"/>
              </a:rPr>
              <a:t>(</a:t>
            </a:r>
            <a:r>
              <a:rPr lang="es" sz="1700">
                <a:solidFill>
                  <a:srgbClr val="9CDCFE"/>
                </a:solidFill>
                <a:highlight>
                  <a:srgbClr val="1E1E1E"/>
                </a:highlight>
                <a:latin typeface="Courier New"/>
                <a:ea typeface="Courier New"/>
                <a:cs typeface="Courier New"/>
                <a:sym typeface="Courier New"/>
              </a:rPr>
              <a:t>__dirname </a:t>
            </a:r>
            <a:r>
              <a:rPr lang="es" sz="1700">
                <a:solidFill>
                  <a:srgbClr val="D4D4D4"/>
                </a:solidFill>
                <a:highlight>
                  <a:srgbClr val="1E1E1E"/>
                </a:highlight>
                <a:latin typeface="Courier New"/>
                <a:ea typeface="Courier New"/>
                <a:cs typeface="Courier New"/>
                <a:sym typeface="Courier New"/>
              </a:rPr>
              <a:t>+ </a:t>
            </a:r>
            <a:r>
              <a:rPr lang="es" sz="1700">
                <a:solidFill>
                  <a:srgbClr val="CE9178"/>
                </a:solidFill>
                <a:highlight>
                  <a:srgbClr val="1E1E1E"/>
                </a:highlight>
                <a:latin typeface="Courier New"/>
                <a:ea typeface="Courier New"/>
                <a:cs typeface="Courier New"/>
                <a:sym typeface="Courier New"/>
              </a:rPr>
              <a:t>'/public'</a:t>
            </a:r>
            <a:r>
              <a:rPr lang="es" sz="1700">
                <a:solidFill>
                  <a:srgbClr val="D4D4D4"/>
                </a:solidFill>
                <a:highlight>
                  <a:srgbClr val="1E1E1E"/>
                </a:highlight>
                <a:latin typeface="Courier New"/>
                <a:ea typeface="Courier New"/>
                <a:cs typeface="Courier New"/>
                <a:sym typeface="Courier New"/>
              </a:rPr>
              <a:t>))</a:t>
            </a:r>
            <a:endParaRPr sz="1600">
              <a:solidFill>
                <a:srgbClr val="999999"/>
              </a:solidFill>
              <a:highlight>
                <a:srgbClr val="F7F7F7"/>
              </a:highlight>
              <a:latin typeface="Courier New"/>
              <a:ea typeface="Courier New"/>
              <a:cs typeface="Courier New"/>
              <a:sym typeface="Courier New"/>
            </a:endParaRPr>
          </a:p>
          <a:p>
            <a:pPr marL="139700" marR="139700" lvl="0" indent="0" algn="l" rtl="0">
              <a:lnSpc>
                <a:spcPct val="150000"/>
              </a:lnSpc>
              <a:spcBef>
                <a:spcPts val="500"/>
              </a:spcBef>
              <a:spcAft>
                <a:spcPts val="0"/>
              </a:spcAft>
              <a:buNone/>
            </a:pPr>
            <a:endParaRPr sz="1600">
              <a:solidFill>
                <a:schemeClr val="dk1"/>
              </a:solidFill>
              <a:highlight>
                <a:srgbClr val="F7F7F7"/>
              </a:highlight>
              <a:latin typeface="Courier New"/>
              <a:ea typeface="Courier New"/>
              <a:cs typeface="Courier New"/>
              <a:sym typeface="Courier New"/>
            </a:endParaRPr>
          </a:p>
          <a:p>
            <a:pPr marL="0" lvl="0" indent="0" algn="l" rtl="0">
              <a:lnSpc>
                <a:spcPct val="150000"/>
              </a:lnSpc>
              <a:spcBef>
                <a:spcPts val="500"/>
              </a:spcBef>
              <a:spcAft>
                <a:spcPts val="0"/>
              </a:spcAft>
              <a:buNone/>
            </a:pPr>
            <a:endParaRPr sz="1600">
              <a:solidFill>
                <a:srgbClr val="999999"/>
              </a:solidFill>
              <a:latin typeface="Courier New"/>
              <a:ea typeface="Courier New"/>
              <a:cs typeface="Courier New"/>
              <a:sym typeface="Courier New"/>
            </a:endParaRPr>
          </a:p>
        </p:txBody>
      </p:sp>
    </p:spTree>
    <p:extLst>
      <p:ext uri="{BB962C8B-B14F-4D97-AF65-F5344CB8AC3E}">
        <p14:creationId xmlns:p14="http://schemas.microsoft.com/office/powerpoint/2010/main" val="49021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BF75-D862-2BC5-6852-F2B994516E3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8ADCEAA-0C7D-4C13-AEAB-5AA9EE15C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08;p116">
            <a:extLst>
              <a:ext uri="{FF2B5EF4-FFF2-40B4-BE49-F238E27FC236}">
                <a16:creationId xmlns:a16="http://schemas.microsoft.com/office/drawing/2014/main" id="{FB24F8FE-486B-EA31-2277-8C858F550A14}"/>
              </a:ext>
            </a:extLst>
          </p:cNvPr>
          <p:cNvSpPr txBox="1"/>
          <p:nvPr/>
        </p:nvSpPr>
        <p:spPr>
          <a:xfrm>
            <a:off x="2652513" y="1328017"/>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dirty="0">
                <a:solidFill>
                  <a:srgbClr val="EAFF6A"/>
                </a:solidFill>
                <a:latin typeface="DM Sans"/>
                <a:ea typeface="DM Sans"/>
                <a:cs typeface="DM Sans"/>
                <a:sym typeface="DM Sans"/>
              </a:rPr>
              <a:t>Ejemplo </a:t>
            </a:r>
            <a:r>
              <a:rPr lang="es" sz="3500" b="1" dirty="0">
                <a:solidFill>
                  <a:srgbClr val="EAFF6A"/>
                </a:solidFill>
                <a:latin typeface="DM Sans"/>
                <a:ea typeface="DM Sans"/>
                <a:cs typeface="DM Sans"/>
                <a:sym typeface="DM Sans"/>
              </a:rPr>
              <a:t>archivos estáticos</a:t>
            </a:r>
            <a:endParaRPr sz="3500" b="1" i="0" u="none" strike="noStrike" cap="none" dirty="0">
              <a:solidFill>
                <a:srgbClr val="EAFF6A"/>
              </a:solidFill>
              <a:latin typeface="DM Sans"/>
              <a:ea typeface="DM Sans"/>
              <a:cs typeface="DM Sans"/>
              <a:sym typeface="DM Sans"/>
            </a:endParaRPr>
          </a:p>
        </p:txBody>
      </p:sp>
      <p:sp>
        <p:nvSpPr>
          <p:cNvPr id="3" name="Google Shape;509;p116">
            <a:extLst>
              <a:ext uri="{FF2B5EF4-FFF2-40B4-BE49-F238E27FC236}">
                <a16:creationId xmlns:a16="http://schemas.microsoft.com/office/drawing/2014/main" id="{2A2155E2-72C5-5CA0-DB76-722E856E63CB}"/>
              </a:ext>
            </a:extLst>
          </p:cNvPr>
          <p:cNvSpPr txBox="1"/>
          <p:nvPr/>
        </p:nvSpPr>
        <p:spPr>
          <a:xfrm>
            <a:off x="1680713" y="2054592"/>
            <a:ext cx="7734900" cy="3263100"/>
          </a:xfrm>
          <a:prstGeom prst="rect">
            <a:avLst/>
          </a:prstGeom>
          <a:noFill/>
          <a:ln>
            <a:noFill/>
          </a:ln>
        </p:spPr>
        <p:txBody>
          <a:bodyPr spcFirstLastPara="1" wrap="square" lIns="91425" tIns="91425" rIns="91425" bIns="91425" anchor="t" anchorCtr="0">
            <a:spAutoFit/>
          </a:bodyPr>
          <a:lstStyle/>
          <a:p>
            <a:pPr marL="457200" marR="0" lvl="0" indent="-387350" algn="l" rtl="0">
              <a:lnSpc>
                <a:spcPct val="100000"/>
              </a:lnSpc>
              <a:spcBef>
                <a:spcPts val="0"/>
              </a:spcBef>
              <a:spcAft>
                <a:spcPts val="0"/>
              </a:spcAft>
              <a:buClr>
                <a:schemeClr val="accent6"/>
              </a:buClr>
              <a:buSzPts val="2500"/>
              <a:buFont typeface="DM Sans"/>
              <a:buChar char="✓"/>
            </a:pPr>
            <a:r>
              <a:rPr lang="es" sz="2500">
                <a:solidFill>
                  <a:srgbClr val="B7B7B7"/>
                </a:solidFill>
                <a:latin typeface="DM Sans"/>
                <a:ea typeface="DM Sans"/>
                <a:cs typeface="DM Sans"/>
                <a:sym typeface="DM Sans"/>
              </a:rPr>
              <a:t>Se agregará una carpeta pública, la cual contendrá dentro una carpeta “img”, donde guardaremos una imagen, desde el navegador se deberá acceder a este archivo a partir del servicio de archivos estáticos</a:t>
            </a:r>
            <a:endParaRPr sz="2500">
              <a:solidFill>
                <a:srgbClr val="B7B7B7"/>
              </a:solidFill>
              <a:latin typeface="DM Sans"/>
              <a:ea typeface="DM Sans"/>
              <a:cs typeface="DM Sans"/>
              <a:sym typeface="DM Sans"/>
            </a:endParaRPr>
          </a:p>
          <a:p>
            <a:pPr marL="457200" marR="0" lvl="0" indent="-387350" algn="l" rtl="0">
              <a:lnSpc>
                <a:spcPct val="100000"/>
              </a:lnSpc>
              <a:spcBef>
                <a:spcPts val="0"/>
              </a:spcBef>
              <a:spcAft>
                <a:spcPts val="0"/>
              </a:spcAft>
              <a:buClr>
                <a:schemeClr val="accent6"/>
              </a:buClr>
              <a:buSzPts val="2500"/>
              <a:buFont typeface="DM Sans"/>
              <a:buChar char="✓"/>
            </a:pPr>
            <a:r>
              <a:rPr lang="es" sz="2500">
                <a:solidFill>
                  <a:srgbClr val="B7B7B7"/>
                </a:solidFill>
                <a:latin typeface="DM Sans"/>
                <a:ea typeface="DM Sans"/>
                <a:cs typeface="DM Sans"/>
                <a:sym typeface="DM Sans"/>
              </a:rPr>
              <a:t>Crear una página index.html que contenga un mensaje de bienvenida y acceder desde la ruta raíz a éste.</a:t>
            </a:r>
            <a:endParaRPr sz="2500">
              <a:solidFill>
                <a:srgbClr val="B7B7B7"/>
              </a:solidFill>
              <a:latin typeface="DM Sans"/>
              <a:ea typeface="DM Sans"/>
              <a:cs typeface="DM Sans"/>
              <a:sym typeface="DM Sans"/>
            </a:endParaRPr>
          </a:p>
        </p:txBody>
      </p:sp>
    </p:spTree>
    <p:extLst>
      <p:ext uri="{BB962C8B-B14F-4D97-AF65-F5344CB8AC3E}">
        <p14:creationId xmlns:p14="http://schemas.microsoft.com/office/powerpoint/2010/main" val="305310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F7CE-BF52-2B28-19A4-B283B606C50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4C32338-7D8E-9A3B-38A4-713D59A0B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pic>
        <p:nvPicPr>
          <p:cNvPr id="2" name="Google Shape;517;p117">
            <a:extLst>
              <a:ext uri="{FF2B5EF4-FFF2-40B4-BE49-F238E27FC236}">
                <a16:creationId xmlns:a16="http://schemas.microsoft.com/office/drawing/2014/main" id="{0071C433-2D9E-A8C8-0E67-621D222EE05B}"/>
              </a:ext>
            </a:extLst>
          </p:cNvPr>
          <p:cNvPicPr preferRelativeResize="0"/>
          <p:nvPr/>
        </p:nvPicPr>
        <p:blipFill>
          <a:blip r:embed="rId3">
            <a:alphaModFix/>
          </a:blip>
          <a:stretch>
            <a:fillRect/>
          </a:stretch>
        </p:blipFill>
        <p:spPr>
          <a:xfrm>
            <a:off x="1771461" y="2235474"/>
            <a:ext cx="7998050" cy="3008575"/>
          </a:xfrm>
          <a:prstGeom prst="rect">
            <a:avLst/>
          </a:prstGeom>
          <a:noFill/>
          <a:ln>
            <a:noFill/>
          </a:ln>
        </p:spPr>
      </p:pic>
      <p:sp>
        <p:nvSpPr>
          <p:cNvPr id="3" name="Google Shape;518;p117">
            <a:extLst>
              <a:ext uri="{FF2B5EF4-FFF2-40B4-BE49-F238E27FC236}">
                <a16:creationId xmlns:a16="http://schemas.microsoft.com/office/drawing/2014/main" id="{F33FA021-DA49-97F9-FF75-3913DEE958EA}"/>
              </a:ext>
            </a:extLst>
          </p:cNvPr>
          <p:cNvSpPr txBox="1"/>
          <p:nvPr/>
        </p:nvSpPr>
        <p:spPr>
          <a:xfrm>
            <a:off x="2338486" y="973374"/>
            <a:ext cx="68640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3500" b="1" dirty="0">
                <a:solidFill>
                  <a:schemeClr val="lt1"/>
                </a:solidFill>
                <a:latin typeface="DM Sans"/>
                <a:ea typeface="DM Sans"/>
                <a:cs typeface="DM Sans"/>
                <a:sym typeface="DM Sans"/>
              </a:rPr>
              <a:t>Ejemplo sobre archivos estáticos en express</a:t>
            </a:r>
            <a:endParaRPr sz="35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75059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AF85B-CBC1-A592-8D31-1E7D3CEC5BC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DBC3C54-8D7A-4D6E-B9E7-0160290E8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50;p121">
            <a:extLst>
              <a:ext uri="{FF2B5EF4-FFF2-40B4-BE49-F238E27FC236}">
                <a16:creationId xmlns:a16="http://schemas.microsoft.com/office/drawing/2014/main" id="{A5E45DE8-C628-3047-F5FF-6947C4B8183F}"/>
              </a:ext>
            </a:extLst>
          </p:cNvPr>
          <p:cNvSpPr txBox="1"/>
          <p:nvPr/>
        </p:nvSpPr>
        <p:spPr>
          <a:xfrm>
            <a:off x="2985300" y="278250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lt1"/>
                </a:solidFill>
                <a:latin typeface="DM Sans"/>
                <a:ea typeface="DM Sans"/>
                <a:cs typeface="DM Sans"/>
                <a:sym typeface="DM Sans"/>
              </a:rPr>
              <a:t>Express y </a:t>
            </a:r>
            <a:endParaRPr sz="4000" b="1" i="0" u="none" strike="noStrike" cap="none" dirty="0">
              <a:solidFill>
                <a:schemeClr val="lt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 sz="4000" b="1" dirty="0">
                <a:solidFill>
                  <a:srgbClr val="EA90FF"/>
                </a:solidFill>
                <a:latin typeface="DM Sans"/>
                <a:ea typeface="DM Sans"/>
                <a:cs typeface="DM Sans"/>
                <a:sym typeface="DM Sans"/>
              </a:rPr>
              <a:t>middlewares</a:t>
            </a:r>
            <a:endParaRPr sz="4000" b="1" i="0" u="none" strike="noStrike" cap="none" dirty="0">
              <a:solidFill>
                <a:srgbClr val="EA90FF"/>
              </a:solidFill>
              <a:latin typeface="DM Sans"/>
              <a:ea typeface="DM Sans"/>
              <a:cs typeface="DM Sans"/>
              <a:sym typeface="DM Sans"/>
            </a:endParaRPr>
          </a:p>
        </p:txBody>
      </p:sp>
    </p:spTree>
    <p:extLst>
      <p:ext uri="{BB962C8B-B14F-4D97-AF65-F5344CB8AC3E}">
        <p14:creationId xmlns:p14="http://schemas.microsoft.com/office/powerpoint/2010/main" val="2978414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690BB-ED2E-A2E8-546E-26E715A240A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AF188BD-C550-F351-95EE-B42AB9D70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55;p122">
            <a:extLst>
              <a:ext uri="{FF2B5EF4-FFF2-40B4-BE49-F238E27FC236}">
                <a16:creationId xmlns:a16="http://schemas.microsoft.com/office/drawing/2014/main" id="{CE7CD0F7-B553-AB05-FDEF-9DD1E186E645}"/>
              </a:ext>
            </a:extLst>
          </p:cNvPr>
          <p:cNvSpPr txBox="1"/>
          <p:nvPr/>
        </p:nvSpPr>
        <p:spPr>
          <a:xfrm>
            <a:off x="1969775" y="1282527"/>
            <a:ext cx="65184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¿Qué es un middleware?</a:t>
            </a:r>
            <a:endParaRPr sz="4000" b="1" i="0" u="none" strike="noStrike" cap="none" dirty="0">
              <a:solidFill>
                <a:schemeClr val="bg1"/>
              </a:solidFill>
              <a:latin typeface="DM Sans"/>
              <a:ea typeface="DM Sans"/>
              <a:cs typeface="DM Sans"/>
              <a:sym typeface="DM Sans"/>
            </a:endParaRPr>
          </a:p>
        </p:txBody>
      </p:sp>
      <p:sp>
        <p:nvSpPr>
          <p:cNvPr id="3" name="Google Shape;556;p122">
            <a:extLst>
              <a:ext uri="{FF2B5EF4-FFF2-40B4-BE49-F238E27FC236}">
                <a16:creationId xmlns:a16="http://schemas.microsoft.com/office/drawing/2014/main" id="{C8566797-0784-1DC2-A76D-442C8267D4B0}"/>
              </a:ext>
            </a:extLst>
          </p:cNvPr>
          <p:cNvSpPr txBox="1"/>
          <p:nvPr/>
        </p:nvSpPr>
        <p:spPr>
          <a:xfrm>
            <a:off x="6238600" y="2652277"/>
            <a:ext cx="3894300" cy="1877700"/>
          </a:xfrm>
          <a:prstGeom prst="rect">
            <a:avLst/>
          </a:prstGeom>
          <a:noFill/>
          <a:ln>
            <a:noFill/>
          </a:ln>
        </p:spPr>
        <p:txBody>
          <a:bodyPr spcFirstLastPara="1" wrap="square" lIns="91425" tIns="91425" rIns="91425" bIns="91425" anchor="t" anchorCtr="0">
            <a:spAutoFit/>
          </a:bodyPr>
          <a:lstStyle/>
          <a:p>
            <a:pPr marL="0" marR="0" lvl="0" indent="0" algn="l" rtl="0">
              <a:lnSpc>
                <a:spcPct val="80000"/>
              </a:lnSpc>
              <a:spcBef>
                <a:spcPts val="0"/>
              </a:spcBef>
              <a:spcAft>
                <a:spcPts val="0"/>
              </a:spcAft>
              <a:buNone/>
            </a:pPr>
            <a:r>
              <a:rPr lang="es" sz="1250">
                <a:solidFill>
                  <a:schemeClr val="bg1"/>
                </a:solidFill>
                <a:latin typeface="DM Sans"/>
                <a:ea typeface="DM Sans"/>
                <a:cs typeface="DM Sans"/>
                <a:sym typeface="DM Sans"/>
              </a:rPr>
              <a:t>Podemos utilizar un middleware para:</a:t>
            </a:r>
            <a:endParaRPr sz="1250">
              <a:solidFill>
                <a:schemeClr val="bg1"/>
              </a:solidFill>
              <a:latin typeface="DM Sans"/>
              <a:ea typeface="DM Sans"/>
              <a:cs typeface="DM Sans"/>
              <a:sym typeface="DM Sans"/>
            </a:endParaRPr>
          </a:p>
          <a:p>
            <a:pPr marL="457200" marR="0" lvl="0" indent="0" algn="l" rtl="0">
              <a:lnSpc>
                <a:spcPct val="80000"/>
              </a:lnSpc>
              <a:spcBef>
                <a:spcPts val="0"/>
              </a:spcBef>
              <a:spcAft>
                <a:spcPts val="0"/>
              </a:spcAft>
              <a:buNone/>
            </a:pPr>
            <a:endParaRPr sz="1250">
              <a:solidFill>
                <a:schemeClr val="bg1"/>
              </a:solidFill>
              <a:latin typeface="DM Sans"/>
              <a:ea typeface="DM Sans"/>
              <a:cs typeface="DM Sans"/>
              <a:sym typeface="DM Sans"/>
            </a:endParaRPr>
          </a:p>
          <a:p>
            <a:pPr marL="457200" marR="0" lvl="0" indent="-307975" algn="l" rtl="0">
              <a:lnSpc>
                <a:spcPct val="80000"/>
              </a:lnSpc>
              <a:spcBef>
                <a:spcPts val="0"/>
              </a:spcBef>
              <a:spcAft>
                <a:spcPts val="0"/>
              </a:spcAft>
              <a:buClr>
                <a:schemeClr val="accent4"/>
              </a:buClr>
              <a:buSzPts val="1250"/>
              <a:buFont typeface="DM Sans"/>
              <a:buChar char="✓"/>
            </a:pPr>
            <a:r>
              <a:rPr lang="es" sz="1250">
                <a:solidFill>
                  <a:schemeClr val="bg1"/>
                </a:solidFill>
                <a:latin typeface="DM Sans"/>
                <a:ea typeface="DM Sans"/>
                <a:cs typeface="DM Sans"/>
                <a:sym typeface="DM Sans"/>
              </a:rPr>
              <a:t>Dar información sobre las consultas que se están haciendo (logs)</a:t>
            </a:r>
            <a:endParaRPr sz="1250">
              <a:solidFill>
                <a:schemeClr val="bg1"/>
              </a:solidFill>
              <a:latin typeface="DM Sans"/>
              <a:ea typeface="DM Sans"/>
              <a:cs typeface="DM Sans"/>
              <a:sym typeface="DM Sans"/>
            </a:endParaRPr>
          </a:p>
          <a:p>
            <a:pPr marL="457200" marR="0" lvl="0" indent="-307975" algn="l" rtl="0">
              <a:lnSpc>
                <a:spcPct val="80000"/>
              </a:lnSpc>
              <a:spcBef>
                <a:spcPts val="0"/>
              </a:spcBef>
              <a:spcAft>
                <a:spcPts val="0"/>
              </a:spcAft>
              <a:buClr>
                <a:schemeClr val="accent4"/>
              </a:buClr>
              <a:buSzPts val="1250"/>
              <a:buFont typeface="DM Sans"/>
              <a:buChar char="✓"/>
            </a:pPr>
            <a:r>
              <a:rPr lang="es" sz="1250">
                <a:solidFill>
                  <a:schemeClr val="bg1"/>
                </a:solidFill>
                <a:latin typeface="DM Sans"/>
                <a:ea typeface="DM Sans"/>
                <a:cs typeface="DM Sans"/>
                <a:sym typeface="DM Sans"/>
              </a:rPr>
              <a:t>Autorizar o rechazar usuarios antes de que lleguen al endpoint (seguridad)</a:t>
            </a:r>
            <a:endParaRPr sz="1250">
              <a:solidFill>
                <a:schemeClr val="bg1"/>
              </a:solidFill>
              <a:latin typeface="DM Sans"/>
              <a:ea typeface="DM Sans"/>
              <a:cs typeface="DM Sans"/>
              <a:sym typeface="DM Sans"/>
            </a:endParaRPr>
          </a:p>
          <a:p>
            <a:pPr marL="457200" marR="0" lvl="0" indent="-307975" algn="l" rtl="0">
              <a:lnSpc>
                <a:spcPct val="80000"/>
              </a:lnSpc>
              <a:spcBef>
                <a:spcPts val="0"/>
              </a:spcBef>
              <a:spcAft>
                <a:spcPts val="0"/>
              </a:spcAft>
              <a:buClr>
                <a:schemeClr val="accent4"/>
              </a:buClr>
              <a:buSzPts val="1250"/>
              <a:buFont typeface="DM Sans"/>
              <a:buChar char="✓"/>
            </a:pPr>
            <a:r>
              <a:rPr lang="es" sz="1250">
                <a:solidFill>
                  <a:schemeClr val="bg1"/>
                </a:solidFill>
                <a:latin typeface="DM Sans"/>
                <a:ea typeface="DM Sans"/>
                <a:cs typeface="DM Sans"/>
                <a:sym typeface="DM Sans"/>
              </a:rPr>
              <a:t>Agregar o alterar información al método </a:t>
            </a:r>
            <a:r>
              <a:rPr lang="es" sz="1250" b="1">
                <a:solidFill>
                  <a:schemeClr val="bg1"/>
                </a:solidFill>
                <a:latin typeface="DM Sans"/>
                <a:ea typeface="DM Sans"/>
                <a:cs typeface="DM Sans"/>
                <a:sym typeface="DM Sans"/>
              </a:rPr>
              <a:t>req</a:t>
            </a:r>
            <a:r>
              <a:rPr lang="es" sz="1250">
                <a:solidFill>
                  <a:schemeClr val="bg1"/>
                </a:solidFill>
                <a:latin typeface="DM Sans"/>
                <a:ea typeface="DM Sans"/>
                <a:cs typeface="DM Sans"/>
                <a:sym typeface="DM Sans"/>
              </a:rPr>
              <a:t> antes de que llegue al endpoint (formato)</a:t>
            </a:r>
            <a:endParaRPr sz="1250">
              <a:solidFill>
                <a:schemeClr val="bg1"/>
              </a:solidFill>
              <a:latin typeface="DM Sans"/>
              <a:ea typeface="DM Sans"/>
              <a:cs typeface="DM Sans"/>
              <a:sym typeface="DM Sans"/>
            </a:endParaRPr>
          </a:p>
          <a:p>
            <a:pPr marL="457200" marR="0" lvl="0" indent="-307975" algn="l" rtl="0">
              <a:lnSpc>
                <a:spcPct val="80000"/>
              </a:lnSpc>
              <a:spcBef>
                <a:spcPts val="0"/>
              </a:spcBef>
              <a:spcAft>
                <a:spcPts val="0"/>
              </a:spcAft>
              <a:buClr>
                <a:schemeClr val="accent4"/>
              </a:buClr>
              <a:buSzPts val="1250"/>
              <a:buFont typeface="DM Sans"/>
              <a:buChar char="✓"/>
            </a:pPr>
            <a:r>
              <a:rPr lang="es" sz="1250">
                <a:solidFill>
                  <a:schemeClr val="bg1"/>
                </a:solidFill>
                <a:latin typeface="DM Sans"/>
                <a:ea typeface="DM Sans"/>
                <a:cs typeface="DM Sans"/>
                <a:sym typeface="DM Sans"/>
              </a:rPr>
              <a:t>Redireccionar según sea necesario (router)</a:t>
            </a:r>
            <a:endParaRPr sz="1250">
              <a:solidFill>
                <a:schemeClr val="bg1"/>
              </a:solidFill>
              <a:latin typeface="DM Sans"/>
              <a:ea typeface="DM Sans"/>
              <a:cs typeface="DM Sans"/>
              <a:sym typeface="DM Sans"/>
            </a:endParaRPr>
          </a:p>
          <a:p>
            <a:pPr marL="457200" marR="0" lvl="0" indent="-307975" algn="l" rtl="0">
              <a:lnSpc>
                <a:spcPct val="80000"/>
              </a:lnSpc>
              <a:spcBef>
                <a:spcPts val="0"/>
              </a:spcBef>
              <a:spcAft>
                <a:spcPts val="0"/>
              </a:spcAft>
              <a:buClr>
                <a:schemeClr val="accent4"/>
              </a:buClr>
              <a:buSzPts val="1250"/>
              <a:buFont typeface="DM Sans"/>
              <a:buChar char="✓"/>
            </a:pPr>
            <a:r>
              <a:rPr lang="es" sz="1250">
                <a:solidFill>
                  <a:schemeClr val="bg1"/>
                </a:solidFill>
                <a:latin typeface="DM Sans"/>
                <a:ea typeface="DM Sans"/>
                <a:cs typeface="DM Sans"/>
                <a:sym typeface="DM Sans"/>
              </a:rPr>
              <a:t>En ciertos casos, finalizar la petición sin que llegue al endpoint (seguridad)</a:t>
            </a:r>
            <a:endParaRPr sz="1250">
              <a:solidFill>
                <a:schemeClr val="bg1"/>
              </a:solidFill>
              <a:latin typeface="DM Sans"/>
              <a:ea typeface="DM Sans"/>
              <a:cs typeface="DM Sans"/>
              <a:sym typeface="DM Sans"/>
            </a:endParaRPr>
          </a:p>
        </p:txBody>
      </p:sp>
      <p:sp>
        <p:nvSpPr>
          <p:cNvPr id="4" name="Google Shape;557;p122">
            <a:extLst>
              <a:ext uri="{FF2B5EF4-FFF2-40B4-BE49-F238E27FC236}">
                <a16:creationId xmlns:a16="http://schemas.microsoft.com/office/drawing/2014/main" id="{A456C7C2-FBAD-065C-D9B7-A48178E57D80}"/>
              </a:ext>
            </a:extLst>
          </p:cNvPr>
          <p:cNvSpPr txBox="1"/>
          <p:nvPr/>
        </p:nvSpPr>
        <p:spPr>
          <a:xfrm>
            <a:off x="2040850" y="2652277"/>
            <a:ext cx="4020000" cy="22656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s" sz="1300">
                <a:solidFill>
                  <a:schemeClr val="bg1"/>
                </a:solidFill>
                <a:latin typeface="DM Sans"/>
                <a:ea typeface="DM Sans"/>
                <a:cs typeface="DM Sans"/>
                <a:sym typeface="DM Sans"/>
              </a:rPr>
              <a:t>Seguramente te has dado cuenta de que que hemos utilizado mucho la sintaxis </a:t>
            </a:r>
            <a:r>
              <a:rPr lang="es" sz="1300" b="1">
                <a:solidFill>
                  <a:schemeClr val="bg1"/>
                </a:solidFill>
                <a:latin typeface="DM Sans"/>
                <a:ea typeface="DM Sans"/>
                <a:cs typeface="DM Sans"/>
                <a:sym typeface="DM Sans"/>
              </a:rPr>
              <a:t>app.use</a:t>
            </a:r>
            <a:r>
              <a:rPr lang="es" sz="1300">
                <a:solidFill>
                  <a:schemeClr val="bg1"/>
                </a:solidFill>
                <a:latin typeface="DM Sans"/>
                <a:ea typeface="DM Sans"/>
                <a:cs typeface="DM Sans"/>
                <a:sym typeface="DM Sans"/>
              </a:rPr>
              <a:t>. ¿Qué pasa de manera interna en este punto?</a:t>
            </a:r>
            <a:endParaRPr sz="1300">
              <a:solidFill>
                <a:schemeClr val="bg1"/>
              </a:solidFill>
              <a:latin typeface="DM Sans"/>
              <a:ea typeface="DM Sans"/>
              <a:cs typeface="DM Sans"/>
              <a:sym typeface="DM Sans"/>
            </a:endParaRPr>
          </a:p>
          <a:p>
            <a:pPr marL="457200" lvl="0" indent="0" algn="l" rtl="0">
              <a:lnSpc>
                <a:spcPct val="80000"/>
              </a:lnSpc>
              <a:spcBef>
                <a:spcPts val="0"/>
              </a:spcBef>
              <a:spcAft>
                <a:spcPts val="0"/>
              </a:spcAft>
              <a:buNone/>
            </a:pPr>
            <a:endParaRPr sz="1300">
              <a:solidFill>
                <a:schemeClr val="bg1"/>
              </a:solidFill>
              <a:latin typeface="DM Sans"/>
              <a:ea typeface="DM Sans"/>
              <a:cs typeface="DM Sans"/>
              <a:sym typeface="DM Sans"/>
            </a:endParaRPr>
          </a:p>
          <a:p>
            <a:pPr marL="0" lvl="0" indent="0" algn="l" rtl="0">
              <a:lnSpc>
                <a:spcPct val="80000"/>
              </a:lnSpc>
              <a:spcBef>
                <a:spcPts val="0"/>
              </a:spcBef>
              <a:spcAft>
                <a:spcPts val="0"/>
              </a:spcAft>
              <a:buNone/>
            </a:pPr>
            <a:r>
              <a:rPr lang="es" sz="1300">
                <a:solidFill>
                  <a:schemeClr val="bg1"/>
                </a:solidFill>
                <a:latin typeface="DM Sans"/>
                <a:ea typeface="DM Sans"/>
                <a:cs typeface="DM Sans"/>
                <a:sym typeface="DM Sans"/>
              </a:rPr>
              <a:t>Cada vez que utilizamos un </a:t>
            </a:r>
            <a:r>
              <a:rPr lang="es" sz="1300" b="1">
                <a:solidFill>
                  <a:schemeClr val="bg1"/>
                </a:solidFill>
                <a:latin typeface="DM Sans"/>
                <a:ea typeface="DM Sans"/>
                <a:cs typeface="DM Sans"/>
                <a:sym typeface="DM Sans"/>
              </a:rPr>
              <a:t>app.use</a:t>
            </a:r>
            <a:r>
              <a:rPr lang="es" sz="1300">
                <a:solidFill>
                  <a:schemeClr val="bg1"/>
                </a:solidFill>
                <a:latin typeface="DM Sans"/>
                <a:ea typeface="DM Sans"/>
                <a:cs typeface="DM Sans"/>
                <a:sym typeface="DM Sans"/>
              </a:rPr>
              <a:t> estamos utilizando un </a:t>
            </a:r>
            <a:r>
              <a:rPr lang="es" sz="1300" b="1">
                <a:solidFill>
                  <a:schemeClr val="bg1"/>
                </a:solidFill>
                <a:latin typeface="DM Sans"/>
                <a:ea typeface="DM Sans"/>
                <a:cs typeface="DM Sans"/>
                <a:sym typeface="DM Sans"/>
              </a:rPr>
              <a:t>middleware</a:t>
            </a:r>
            <a:r>
              <a:rPr lang="es" sz="1300">
                <a:solidFill>
                  <a:schemeClr val="bg1"/>
                </a:solidFill>
                <a:latin typeface="DM Sans"/>
                <a:ea typeface="DM Sans"/>
                <a:cs typeface="DM Sans"/>
                <a:sym typeface="DM Sans"/>
              </a:rPr>
              <a:t>. Éstas son operaciones que se ejecutan de manera intermedia entre la petición del cliente, y el servicio de nuestro servidor. </a:t>
            </a:r>
            <a:endParaRPr sz="1300">
              <a:solidFill>
                <a:schemeClr val="bg1"/>
              </a:solidFill>
              <a:latin typeface="DM Sans"/>
              <a:ea typeface="DM Sans"/>
              <a:cs typeface="DM Sans"/>
              <a:sym typeface="DM Sans"/>
            </a:endParaRPr>
          </a:p>
          <a:p>
            <a:pPr marL="457200" lvl="0" indent="0" algn="l" rtl="0">
              <a:lnSpc>
                <a:spcPct val="80000"/>
              </a:lnSpc>
              <a:spcBef>
                <a:spcPts val="0"/>
              </a:spcBef>
              <a:spcAft>
                <a:spcPts val="0"/>
              </a:spcAft>
              <a:buNone/>
            </a:pPr>
            <a:endParaRPr sz="1300">
              <a:solidFill>
                <a:schemeClr val="bg1"/>
              </a:solidFill>
              <a:latin typeface="DM Sans"/>
              <a:ea typeface="DM Sans"/>
              <a:cs typeface="DM Sans"/>
              <a:sym typeface="DM Sans"/>
            </a:endParaRPr>
          </a:p>
          <a:p>
            <a:pPr marL="0" lvl="0" indent="0" algn="l" rtl="0">
              <a:lnSpc>
                <a:spcPct val="80000"/>
              </a:lnSpc>
              <a:spcBef>
                <a:spcPts val="0"/>
              </a:spcBef>
              <a:spcAft>
                <a:spcPts val="0"/>
              </a:spcAft>
              <a:buNone/>
            </a:pPr>
            <a:r>
              <a:rPr lang="es" sz="1300">
                <a:solidFill>
                  <a:schemeClr val="bg1"/>
                </a:solidFill>
                <a:latin typeface="DM Sans"/>
                <a:ea typeface="DM Sans"/>
                <a:cs typeface="DM Sans"/>
                <a:sym typeface="DM Sans"/>
              </a:rPr>
              <a:t>Como lo indica el nombre: “middleware” hace referencia a un intermediario, </a:t>
            </a:r>
            <a:r>
              <a:rPr lang="es" sz="1300" b="1">
                <a:solidFill>
                  <a:schemeClr val="bg1"/>
                </a:solidFill>
                <a:latin typeface="DM Sans"/>
                <a:ea typeface="DM Sans"/>
                <a:cs typeface="DM Sans"/>
                <a:sym typeface="DM Sans"/>
              </a:rPr>
              <a:t>siempre se ejecuta antes de llegar al endpoint que corresponde</a:t>
            </a:r>
            <a:r>
              <a:rPr lang="es" sz="1300">
                <a:solidFill>
                  <a:schemeClr val="bg1"/>
                </a:solidFill>
                <a:latin typeface="DM Sans"/>
                <a:ea typeface="DM Sans"/>
                <a:cs typeface="DM Sans"/>
                <a:sym typeface="DM Sans"/>
              </a:rPr>
              <a:t>. </a:t>
            </a:r>
            <a:endParaRPr sz="130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1726325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90E0B-A8B1-7AF5-6555-324AC80E1C8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A1C0CF7-F195-FB80-EC71-C7D5364921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pic>
        <p:nvPicPr>
          <p:cNvPr id="2" name="Google Shape;562;p123">
            <a:extLst>
              <a:ext uri="{FF2B5EF4-FFF2-40B4-BE49-F238E27FC236}">
                <a16:creationId xmlns:a16="http://schemas.microsoft.com/office/drawing/2014/main" id="{A9B165D9-F5EC-F210-D0A8-1AF845B64512}"/>
              </a:ext>
            </a:extLst>
          </p:cNvPr>
          <p:cNvPicPr preferRelativeResize="0"/>
          <p:nvPr/>
        </p:nvPicPr>
        <p:blipFill>
          <a:blip r:embed="rId3">
            <a:alphaModFix/>
          </a:blip>
          <a:stretch>
            <a:fillRect/>
          </a:stretch>
        </p:blipFill>
        <p:spPr>
          <a:xfrm>
            <a:off x="2251683" y="2431848"/>
            <a:ext cx="6285451" cy="2555400"/>
          </a:xfrm>
          <a:prstGeom prst="rect">
            <a:avLst/>
          </a:prstGeom>
          <a:noFill/>
          <a:ln>
            <a:noFill/>
          </a:ln>
        </p:spPr>
      </p:pic>
      <p:sp>
        <p:nvSpPr>
          <p:cNvPr id="3" name="Google Shape;563;p123">
            <a:extLst>
              <a:ext uri="{FF2B5EF4-FFF2-40B4-BE49-F238E27FC236}">
                <a16:creationId xmlns:a16="http://schemas.microsoft.com/office/drawing/2014/main" id="{DB869714-B620-54D6-2B7B-ED2C644B50F5}"/>
              </a:ext>
            </a:extLst>
          </p:cNvPr>
          <p:cNvSpPr txBox="1"/>
          <p:nvPr/>
        </p:nvSpPr>
        <p:spPr>
          <a:xfrm>
            <a:off x="1231160" y="1047098"/>
            <a:ext cx="8694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000" b="1" dirty="0">
                <a:solidFill>
                  <a:schemeClr val="bg1"/>
                </a:solidFill>
                <a:latin typeface="DM Sans"/>
                <a:ea typeface="DM Sans"/>
                <a:cs typeface="DM Sans"/>
                <a:sym typeface="DM Sans"/>
              </a:rPr>
              <a:t>Flujo de múltiples middlewares a través de una petición</a:t>
            </a:r>
            <a:endParaRPr sz="3000" b="1" dirty="0">
              <a:solidFill>
                <a:schemeClr val="bg1"/>
              </a:solidFill>
              <a:latin typeface="DM Sans"/>
              <a:ea typeface="DM Sans"/>
              <a:cs typeface="DM Sans"/>
              <a:sym typeface="DM Sans"/>
            </a:endParaRPr>
          </a:p>
        </p:txBody>
      </p:sp>
      <p:sp>
        <p:nvSpPr>
          <p:cNvPr id="4" name="Google Shape;564;p123">
            <a:extLst>
              <a:ext uri="{FF2B5EF4-FFF2-40B4-BE49-F238E27FC236}">
                <a16:creationId xmlns:a16="http://schemas.microsoft.com/office/drawing/2014/main" id="{72F831CF-39CC-4A3A-7512-3F618BABF29A}"/>
              </a:ext>
            </a:extLst>
          </p:cNvPr>
          <p:cNvSpPr txBox="1"/>
          <p:nvPr/>
        </p:nvSpPr>
        <p:spPr>
          <a:xfrm>
            <a:off x="8863181" y="2856074"/>
            <a:ext cx="1368300" cy="184662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dirty="0">
                <a:solidFill>
                  <a:schemeClr val="bg1"/>
                </a:solidFill>
                <a:latin typeface="DM Sans"/>
                <a:ea typeface="DM Sans"/>
                <a:cs typeface="DM Sans"/>
                <a:sym typeface="DM Sans"/>
              </a:rPr>
              <a:t>Este “main Task” sería el endpoint con tu servicio”.</a:t>
            </a:r>
            <a:endParaRPr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2795252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A1576-186D-BD10-89AD-BFCE9EE4CC7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68DD189-7E63-7C12-4554-3A4F6347AA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69;p124">
            <a:extLst>
              <a:ext uri="{FF2B5EF4-FFF2-40B4-BE49-F238E27FC236}">
                <a16:creationId xmlns:a16="http://schemas.microsoft.com/office/drawing/2014/main" id="{9220C7EF-9F8E-36CC-4A74-3FAF67DB522E}"/>
              </a:ext>
            </a:extLst>
          </p:cNvPr>
          <p:cNvSpPr txBox="1"/>
          <p:nvPr/>
        </p:nvSpPr>
        <p:spPr>
          <a:xfrm>
            <a:off x="1742857" y="1454026"/>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rgbClr val="EAFF6A"/>
                </a:solidFill>
                <a:latin typeface="DM Sans"/>
                <a:ea typeface="DM Sans"/>
                <a:cs typeface="DM Sans"/>
                <a:sym typeface="DM Sans"/>
              </a:rPr>
              <a:t>¡Importante!</a:t>
            </a:r>
            <a:endParaRPr sz="4000" b="1" i="0" u="none" strike="noStrike" cap="none" dirty="0">
              <a:solidFill>
                <a:srgbClr val="EAFF6A"/>
              </a:solidFill>
              <a:latin typeface="DM Sans"/>
              <a:ea typeface="DM Sans"/>
              <a:cs typeface="DM Sans"/>
              <a:sym typeface="DM Sans"/>
            </a:endParaRPr>
          </a:p>
        </p:txBody>
      </p:sp>
      <p:sp>
        <p:nvSpPr>
          <p:cNvPr id="3" name="Google Shape;570;p124">
            <a:extLst>
              <a:ext uri="{FF2B5EF4-FFF2-40B4-BE49-F238E27FC236}">
                <a16:creationId xmlns:a16="http://schemas.microsoft.com/office/drawing/2014/main" id="{6BE1B045-3C9B-6EF3-5FB3-E9A4F9D4089E}"/>
              </a:ext>
            </a:extLst>
          </p:cNvPr>
          <p:cNvSpPr txBox="1"/>
          <p:nvPr/>
        </p:nvSpPr>
        <p:spPr>
          <a:xfrm>
            <a:off x="1742857" y="2460601"/>
            <a:ext cx="7169400" cy="249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a:solidFill>
                  <a:schemeClr val="lt1"/>
                </a:solidFill>
                <a:latin typeface="DM Sans"/>
                <a:ea typeface="DM Sans"/>
                <a:cs typeface="DM Sans"/>
                <a:sym typeface="DM Sans"/>
              </a:rPr>
              <a:t>Como lo ves en el diagrama anterior, los middlewares se ejecutan EN ORDEN, eso quiere decir que, si algún middleware depende de que se haya realizado otra operación ejecutada por un middleware previo, los coloquemos en cascada según prioridad. </a:t>
            </a:r>
            <a:endParaRPr sz="2500" b="1" i="0" u="none" strike="noStrike" cap="none">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4038135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4665E-4773-B8E4-44C2-1A2F81C63D4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52D5D2C-2C8C-E929-DFA2-E22191C77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75;p125">
            <a:extLst>
              <a:ext uri="{FF2B5EF4-FFF2-40B4-BE49-F238E27FC236}">
                <a16:creationId xmlns:a16="http://schemas.microsoft.com/office/drawing/2014/main" id="{AC92C135-3512-0A3F-85EE-FEDDE5115B29}"/>
              </a:ext>
            </a:extLst>
          </p:cNvPr>
          <p:cNvSpPr txBox="1"/>
          <p:nvPr/>
        </p:nvSpPr>
        <p:spPr>
          <a:xfrm>
            <a:off x="2985300" y="305955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Tipos de Middlewares</a:t>
            </a:r>
            <a:endParaRPr sz="4000" b="1" i="0" u="none" strike="noStrike" cap="none"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2765194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A74D-56EB-D3B2-8AF4-E19A0A7DD3B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96616C8-E747-52B8-C3E6-69613694A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80;p126">
            <a:extLst>
              <a:ext uri="{FF2B5EF4-FFF2-40B4-BE49-F238E27FC236}">
                <a16:creationId xmlns:a16="http://schemas.microsoft.com/office/drawing/2014/main" id="{6E60C2A9-2D65-BC1E-760E-B64217109210}"/>
              </a:ext>
            </a:extLst>
          </p:cNvPr>
          <p:cNvSpPr txBox="1"/>
          <p:nvPr/>
        </p:nvSpPr>
        <p:spPr>
          <a:xfrm>
            <a:off x="1985482" y="2779902"/>
            <a:ext cx="8209200" cy="170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50">
                <a:solidFill>
                  <a:schemeClr val="dk1"/>
                </a:solidFill>
                <a:highlight>
                  <a:srgbClr val="FFFFFF"/>
                </a:highlight>
                <a:latin typeface="DM Sans"/>
                <a:ea typeface="DM Sans"/>
                <a:cs typeface="DM Sans"/>
                <a:sym typeface="DM Sans"/>
              </a:rPr>
              <a:t>Una aplicación Express puede utilizar los siguientes tipos de middleware:</a:t>
            </a:r>
            <a:endParaRPr sz="1350">
              <a:solidFill>
                <a:schemeClr val="dk1"/>
              </a:solidFill>
              <a:highlight>
                <a:srgbClr val="FFFFFF"/>
              </a:highlight>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dk1"/>
                </a:solidFill>
                <a:highlight>
                  <a:srgbClr val="FFFFFF"/>
                </a:highlight>
                <a:latin typeface="DM Sans"/>
                <a:ea typeface="DM Sans"/>
                <a:cs typeface="DM Sans"/>
                <a:sym typeface="DM Sans"/>
              </a:rPr>
              <a:t>Middleware a nivel de aplicación</a:t>
            </a:r>
            <a:endParaRPr sz="1350" b="1">
              <a:solidFill>
                <a:schemeClr val="dk1"/>
              </a:solidFill>
              <a:highlight>
                <a:srgbClr val="FFFFFF"/>
              </a:highlight>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dk1"/>
                </a:solidFill>
                <a:highlight>
                  <a:srgbClr val="FFFFFF"/>
                </a:highlight>
                <a:latin typeface="DM Sans"/>
                <a:ea typeface="DM Sans"/>
                <a:cs typeface="DM Sans"/>
                <a:sym typeface="DM Sans"/>
              </a:rPr>
              <a:t>Middleware a nivel endpoint</a:t>
            </a:r>
            <a:endParaRPr sz="1350" b="1">
              <a:solidFill>
                <a:schemeClr val="dk1"/>
              </a:solidFill>
              <a:highlight>
                <a:srgbClr val="FFFFFF"/>
              </a:highlight>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dk1"/>
                </a:solidFill>
                <a:highlight>
                  <a:srgbClr val="FFFFFF"/>
                </a:highlight>
                <a:latin typeface="DM Sans"/>
                <a:ea typeface="DM Sans"/>
                <a:cs typeface="DM Sans"/>
                <a:sym typeface="DM Sans"/>
              </a:rPr>
              <a:t>Middleware a nivel del Router</a:t>
            </a:r>
            <a:endParaRPr sz="1350" b="1">
              <a:solidFill>
                <a:schemeClr val="dk1"/>
              </a:solidFill>
              <a:highlight>
                <a:srgbClr val="FFFFFF"/>
              </a:highlight>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dk1"/>
                </a:solidFill>
                <a:highlight>
                  <a:srgbClr val="FFFFFF"/>
                </a:highlight>
                <a:latin typeface="DM Sans"/>
                <a:ea typeface="DM Sans"/>
                <a:cs typeface="DM Sans"/>
                <a:sym typeface="DM Sans"/>
              </a:rPr>
              <a:t>Middleware de manejo de errores</a:t>
            </a:r>
            <a:endParaRPr sz="1350" b="1">
              <a:solidFill>
                <a:schemeClr val="dk1"/>
              </a:solidFill>
              <a:highlight>
                <a:srgbClr val="FFFFFF"/>
              </a:highlight>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dk1"/>
                </a:solidFill>
                <a:highlight>
                  <a:srgbClr val="FFFFFF"/>
                </a:highlight>
                <a:latin typeface="DM Sans"/>
                <a:ea typeface="DM Sans"/>
                <a:cs typeface="DM Sans"/>
                <a:sym typeface="DM Sans"/>
              </a:rPr>
              <a:t>Middleware incorporado</a:t>
            </a:r>
            <a:endParaRPr sz="1350" b="1">
              <a:solidFill>
                <a:schemeClr val="dk1"/>
              </a:solidFill>
              <a:highlight>
                <a:srgbClr val="FFFFFF"/>
              </a:highlight>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dk1"/>
                </a:solidFill>
                <a:highlight>
                  <a:srgbClr val="FFFFFF"/>
                </a:highlight>
                <a:latin typeface="DM Sans"/>
                <a:ea typeface="DM Sans"/>
                <a:cs typeface="DM Sans"/>
                <a:sym typeface="DM Sans"/>
              </a:rPr>
              <a:t>Middleware de terceros</a:t>
            </a:r>
            <a:endParaRPr sz="1350" b="1">
              <a:solidFill>
                <a:schemeClr val="dk1"/>
              </a:solidFill>
              <a:highlight>
                <a:srgbClr val="FFFFFF"/>
              </a:highlight>
              <a:latin typeface="DM Sans"/>
              <a:ea typeface="DM Sans"/>
              <a:cs typeface="DM Sans"/>
              <a:sym typeface="DM Sans"/>
            </a:endParaRPr>
          </a:p>
          <a:p>
            <a:pPr marL="0" lvl="0" indent="0" algn="l" rtl="0">
              <a:lnSpc>
                <a:spcPct val="115000"/>
              </a:lnSpc>
              <a:spcBef>
                <a:spcPts val="0"/>
              </a:spcBef>
              <a:spcAft>
                <a:spcPts val="0"/>
              </a:spcAft>
              <a:buNone/>
            </a:pPr>
            <a:endParaRPr sz="1350">
              <a:solidFill>
                <a:schemeClr val="dk1"/>
              </a:solidFill>
              <a:highlight>
                <a:srgbClr val="FFFFFF"/>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chemeClr val="dk1"/>
                </a:solidFill>
                <a:highlight>
                  <a:schemeClr val="lt1"/>
                </a:highlight>
                <a:latin typeface="DM Sans"/>
                <a:ea typeface="DM Sans"/>
                <a:cs typeface="DM Sans"/>
                <a:sym typeface="DM Sans"/>
              </a:rPr>
              <a:t>Veamos cada uno de ellos.</a:t>
            </a:r>
            <a:endParaRPr sz="1350">
              <a:solidFill>
                <a:schemeClr val="dk1"/>
              </a:solidFill>
              <a:highlight>
                <a:srgbClr val="FFFFFF"/>
              </a:highlight>
              <a:latin typeface="DM Sans"/>
              <a:ea typeface="DM Sans"/>
              <a:cs typeface="DM Sans"/>
              <a:sym typeface="DM Sans"/>
            </a:endParaRPr>
          </a:p>
        </p:txBody>
      </p:sp>
      <p:sp>
        <p:nvSpPr>
          <p:cNvPr id="3" name="Google Shape;581;p126">
            <a:extLst>
              <a:ext uri="{FF2B5EF4-FFF2-40B4-BE49-F238E27FC236}">
                <a16:creationId xmlns:a16="http://schemas.microsoft.com/office/drawing/2014/main" id="{329E0D57-DD62-7C02-162C-976601EEAD4E}"/>
              </a:ext>
            </a:extLst>
          </p:cNvPr>
          <p:cNvSpPr txBox="1"/>
          <p:nvPr/>
        </p:nvSpPr>
        <p:spPr>
          <a:xfrm>
            <a:off x="1985482" y="1717602"/>
            <a:ext cx="5892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4000" b="1" dirty="0">
                <a:solidFill>
                  <a:schemeClr val="bg1"/>
                </a:solidFill>
                <a:latin typeface="DM Sans"/>
                <a:ea typeface="DM Sans"/>
                <a:cs typeface="DM Sans"/>
                <a:sym typeface="DM Sans"/>
              </a:rPr>
              <a:t>Tipos de middleware</a:t>
            </a:r>
            <a:endParaRPr sz="4000" b="1"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797025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9062-8B1E-E04E-6191-19B4139D897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E3358C9-7E1B-ED3B-7E38-81A3D14A4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4" name="Google Shape;586;p127">
            <a:extLst>
              <a:ext uri="{FF2B5EF4-FFF2-40B4-BE49-F238E27FC236}">
                <a16:creationId xmlns:a16="http://schemas.microsoft.com/office/drawing/2014/main" id="{21855364-3C2D-352D-D43A-11279E9FE927}"/>
              </a:ext>
            </a:extLst>
          </p:cNvPr>
          <p:cNvSpPr/>
          <p:nvPr/>
        </p:nvSpPr>
        <p:spPr>
          <a:xfrm>
            <a:off x="1774864" y="2272028"/>
            <a:ext cx="7849200" cy="29091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87;p127">
            <a:extLst>
              <a:ext uri="{FF2B5EF4-FFF2-40B4-BE49-F238E27FC236}">
                <a16:creationId xmlns:a16="http://schemas.microsoft.com/office/drawing/2014/main" id="{CFBDBF73-49FA-7B58-2B1C-75AA1A7DF0FA}"/>
              </a:ext>
            </a:extLst>
          </p:cNvPr>
          <p:cNvSpPr txBox="1"/>
          <p:nvPr/>
        </p:nvSpPr>
        <p:spPr>
          <a:xfrm>
            <a:off x="2588764" y="1020678"/>
            <a:ext cx="6221400" cy="11544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s" sz="3500" b="1" dirty="0">
                <a:solidFill>
                  <a:schemeClr val="lt1"/>
                </a:solidFill>
                <a:latin typeface="DM Sans"/>
                <a:ea typeface="DM Sans"/>
                <a:cs typeface="DM Sans"/>
                <a:sym typeface="DM Sans"/>
              </a:rPr>
              <a:t>Middleware de nivel de aplicación</a:t>
            </a:r>
            <a:endParaRPr sz="3500" b="1" dirty="0">
              <a:solidFill>
                <a:schemeClr val="lt1"/>
              </a:solidFill>
              <a:latin typeface="DM Sans"/>
              <a:ea typeface="DM Sans"/>
              <a:cs typeface="DM Sans"/>
              <a:sym typeface="DM Sans"/>
            </a:endParaRPr>
          </a:p>
        </p:txBody>
      </p:sp>
      <p:sp>
        <p:nvSpPr>
          <p:cNvPr id="7" name="Google Shape;588;p127">
            <a:extLst>
              <a:ext uri="{FF2B5EF4-FFF2-40B4-BE49-F238E27FC236}">
                <a16:creationId xmlns:a16="http://schemas.microsoft.com/office/drawing/2014/main" id="{213ECAEB-210B-1E57-95E0-A727F26D8F4A}"/>
              </a:ext>
            </a:extLst>
          </p:cNvPr>
          <p:cNvSpPr txBox="1"/>
          <p:nvPr/>
        </p:nvSpPr>
        <p:spPr>
          <a:xfrm>
            <a:off x="7099439" y="2803028"/>
            <a:ext cx="21663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latin typeface="DM Sans"/>
                <a:ea typeface="DM Sans"/>
                <a:cs typeface="DM Sans"/>
                <a:sym typeface="DM Sans"/>
              </a:rPr>
              <a:t>Este ejemplo muestra una función de middleware sin ninguna vía de acceso de montaje. La función se ejecuta cada vez que la aplicación recibe una solicitud.</a:t>
            </a:r>
            <a:endParaRPr sz="1350">
              <a:latin typeface="DM Sans"/>
              <a:ea typeface="DM Sans"/>
              <a:cs typeface="DM Sans"/>
              <a:sym typeface="DM Sans"/>
            </a:endParaRPr>
          </a:p>
        </p:txBody>
      </p:sp>
      <p:sp>
        <p:nvSpPr>
          <p:cNvPr id="8" name="Google Shape;589;p127">
            <a:extLst>
              <a:ext uri="{FF2B5EF4-FFF2-40B4-BE49-F238E27FC236}">
                <a16:creationId xmlns:a16="http://schemas.microsoft.com/office/drawing/2014/main" id="{F503E92D-695D-121F-BA94-B493DC83F10A}"/>
              </a:ext>
            </a:extLst>
          </p:cNvPr>
          <p:cNvSpPr txBox="1"/>
          <p:nvPr/>
        </p:nvSpPr>
        <p:spPr>
          <a:xfrm>
            <a:off x="2039639" y="2927528"/>
            <a:ext cx="4713900" cy="1598100"/>
          </a:xfrm>
          <a:prstGeom prst="rect">
            <a:avLst/>
          </a:prstGeom>
          <a:solidFill>
            <a:srgbClr val="1E1E1E"/>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Clr>
                <a:schemeClr val="dk1"/>
              </a:buClr>
              <a:buSzPts val="1100"/>
              <a:buFont typeface="Arial"/>
              <a:buNone/>
            </a:pPr>
            <a:r>
              <a:rPr lang="es" sz="1050">
                <a:solidFill>
                  <a:srgbClr val="569CD6"/>
                </a:solidFill>
                <a:highlight>
                  <a:srgbClr val="1E1E1E"/>
                </a:highlight>
                <a:latin typeface="Courier New"/>
                <a:ea typeface="Courier New"/>
                <a:cs typeface="Courier New"/>
                <a:sym typeface="Courier New"/>
              </a:rPr>
              <a:t>const</a:t>
            </a:r>
            <a:r>
              <a:rPr lang="es" sz="1050">
                <a:solidFill>
                  <a:srgbClr val="D4D4D4"/>
                </a:solidFill>
                <a:highlight>
                  <a:srgbClr val="1E1E1E"/>
                </a:highlight>
                <a:latin typeface="Courier New"/>
                <a:ea typeface="Courier New"/>
                <a:cs typeface="Courier New"/>
                <a:sym typeface="Courier New"/>
              </a:rPr>
              <a:t> </a:t>
            </a:r>
            <a:r>
              <a:rPr lang="es" sz="1050">
                <a:solidFill>
                  <a:srgbClr val="4FC1FF"/>
                </a:solidFill>
                <a:highlight>
                  <a:srgbClr val="1E1E1E"/>
                </a:highlight>
                <a:latin typeface="Courier New"/>
                <a:ea typeface="Courier New"/>
                <a:cs typeface="Courier New"/>
                <a:sym typeface="Courier New"/>
              </a:rPr>
              <a:t>app</a:t>
            </a:r>
            <a:r>
              <a:rPr lang="es" sz="1050">
                <a:solidFill>
                  <a:srgbClr val="D4D4D4"/>
                </a:solidFill>
                <a:highlight>
                  <a:srgbClr val="1E1E1E"/>
                </a:highlight>
                <a:latin typeface="Courier New"/>
                <a:ea typeface="Courier New"/>
                <a:cs typeface="Courier New"/>
                <a:sym typeface="Courier New"/>
              </a:rPr>
              <a:t> = </a:t>
            </a:r>
            <a:r>
              <a:rPr lang="es" sz="1050">
                <a:solidFill>
                  <a:srgbClr val="DCDCAA"/>
                </a:solidFill>
                <a:highlight>
                  <a:srgbClr val="1E1E1E"/>
                </a:highlight>
                <a:latin typeface="Courier New"/>
                <a:ea typeface="Courier New"/>
                <a:cs typeface="Courier New"/>
                <a:sym typeface="Courier New"/>
              </a:rPr>
              <a:t>express</a:t>
            </a:r>
            <a:r>
              <a:rPr lang="es" sz="1050">
                <a:solidFill>
                  <a:srgbClr val="D4D4D4"/>
                </a:solidFill>
                <a:highlight>
                  <a:srgbClr val="1E1E1E"/>
                </a:highlight>
                <a:latin typeface="Courier New"/>
                <a:ea typeface="Courier New"/>
                <a:cs typeface="Courier New"/>
                <a:sym typeface="Courier New"/>
              </a:rPr>
              <a:t>();</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1050">
                <a:solidFill>
                  <a:srgbClr val="9CDCFE"/>
                </a:solidFill>
                <a:highlight>
                  <a:srgbClr val="1E1E1E"/>
                </a:highlight>
                <a:latin typeface="Courier New"/>
                <a:ea typeface="Courier New"/>
                <a:cs typeface="Courier New"/>
                <a:sym typeface="Courier New"/>
              </a:rPr>
              <a:t>app</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use</a:t>
            </a:r>
            <a:r>
              <a:rPr lang="es" sz="1050">
                <a:solidFill>
                  <a:srgbClr val="D4D4D4"/>
                </a:solidFill>
                <a:highlight>
                  <a:srgbClr val="1E1E1E"/>
                </a:highlight>
                <a:latin typeface="Courier New"/>
                <a:ea typeface="Courier New"/>
                <a:cs typeface="Courier New"/>
                <a:sym typeface="Courier New"/>
              </a:rPr>
              <a:t>(</a:t>
            </a:r>
            <a:r>
              <a:rPr lang="es" sz="1050">
                <a:solidFill>
                  <a:srgbClr val="569CD6"/>
                </a:solidFill>
                <a:highlight>
                  <a:srgbClr val="1E1E1E"/>
                </a:highlight>
                <a:latin typeface="Courier New"/>
                <a:ea typeface="Courier New"/>
                <a:cs typeface="Courier New"/>
                <a:sym typeface="Courier New"/>
              </a:rPr>
              <a:t>function</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req</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res</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next</a:t>
            </a:r>
            <a:r>
              <a:rPr lang="es" sz="1050">
                <a:solidFill>
                  <a:srgbClr val="D4D4D4"/>
                </a:solidFill>
                <a:highlight>
                  <a:srgbClr val="1E1E1E"/>
                </a:highlight>
                <a:latin typeface="Courier New"/>
                <a:ea typeface="Courier New"/>
                <a:cs typeface="Courier New"/>
                <a:sym typeface="Courier New"/>
              </a:rPr>
              <a:t>) {</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console</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log</a:t>
            </a:r>
            <a:r>
              <a:rPr lang="es" sz="1050">
                <a:solidFill>
                  <a:srgbClr val="D4D4D4"/>
                </a:solidFill>
                <a:highlight>
                  <a:srgbClr val="1E1E1E"/>
                </a:highlight>
                <a:latin typeface="Courier New"/>
                <a:ea typeface="Courier New"/>
                <a:cs typeface="Courier New"/>
                <a:sym typeface="Courier New"/>
              </a:rPr>
              <a:t>(</a:t>
            </a:r>
            <a:r>
              <a:rPr lang="es" sz="1050">
                <a:solidFill>
                  <a:srgbClr val="CE9178"/>
                </a:solidFill>
                <a:highlight>
                  <a:srgbClr val="1E1E1E"/>
                </a:highlight>
                <a:latin typeface="Courier New"/>
                <a:ea typeface="Courier New"/>
                <a:cs typeface="Courier New"/>
                <a:sym typeface="Courier New"/>
              </a:rPr>
              <a:t>'Time:'</a:t>
            </a:r>
            <a:r>
              <a:rPr lang="es" sz="1050">
                <a:solidFill>
                  <a:srgbClr val="D4D4D4"/>
                </a:solidFill>
                <a:highlight>
                  <a:srgbClr val="1E1E1E"/>
                </a:highlight>
                <a:latin typeface="Courier New"/>
                <a:ea typeface="Courier New"/>
                <a:cs typeface="Courier New"/>
                <a:sym typeface="Courier New"/>
              </a:rPr>
              <a:t>, </a:t>
            </a:r>
            <a:r>
              <a:rPr lang="es" sz="1050">
                <a:solidFill>
                  <a:srgbClr val="4EC9B0"/>
                </a:solidFill>
                <a:highlight>
                  <a:srgbClr val="1E1E1E"/>
                </a:highlight>
                <a:latin typeface="Courier New"/>
                <a:ea typeface="Courier New"/>
                <a:cs typeface="Courier New"/>
                <a:sym typeface="Courier New"/>
              </a:rPr>
              <a:t>Date</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now</a:t>
            </a:r>
            <a:r>
              <a:rPr lang="es" sz="1050">
                <a:solidFill>
                  <a:srgbClr val="D4D4D4"/>
                </a:solidFill>
                <a:highlight>
                  <a:srgbClr val="1E1E1E"/>
                </a:highlight>
                <a:latin typeface="Courier New"/>
                <a:ea typeface="Courier New"/>
                <a:cs typeface="Courier New"/>
                <a:sym typeface="Courier New"/>
              </a:rPr>
              <a:t>());</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1050">
                <a:solidFill>
                  <a:srgbClr val="D4D4D4"/>
                </a:solidFill>
                <a:highlight>
                  <a:srgbClr val="1E1E1E"/>
                </a:highlight>
                <a:latin typeface="Courier New"/>
                <a:ea typeface="Courier New"/>
                <a:cs typeface="Courier New"/>
                <a:sym typeface="Courier New"/>
              </a:rPr>
              <a:t>  </a:t>
            </a:r>
            <a:r>
              <a:rPr lang="es" sz="1050">
                <a:solidFill>
                  <a:srgbClr val="DCDCAA"/>
                </a:solidFill>
                <a:highlight>
                  <a:srgbClr val="1E1E1E"/>
                </a:highlight>
                <a:latin typeface="Courier New"/>
                <a:ea typeface="Courier New"/>
                <a:cs typeface="Courier New"/>
                <a:sym typeface="Courier New"/>
              </a:rPr>
              <a:t>next</a:t>
            </a:r>
            <a:r>
              <a:rPr lang="es" sz="1050">
                <a:solidFill>
                  <a:srgbClr val="D4D4D4"/>
                </a:solidFill>
                <a:highlight>
                  <a:srgbClr val="1E1E1E"/>
                </a:highlight>
                <a:latin typeface="Courier New"/>
                <a:ea typeface="Courier New"/>
                <a:cs typeface="Courier New"/>
                <a:sym typeface="Courier New"/>
              </a:rPr>
              <a:t>();</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highlight>
                  <a:srgbClr val="1E1E1E"/>
                </a:highlight>
                <a:latin typeface="Courier New"/>
                <a:ea typeface="Courier New"/>
                <a:cs typeface="Courier New"/>
                <a:sym typeface="Courier New"/>
              </a:rPr>
              <a:t>});</a:t>
            </a:r>
            <a:endParaRPr sz="1600">
              <a:solidFill>
                <a:srgbClr val="0077AA"/>
              </a:solidFill>
              <a:highlight>
                <a:srgbClr val="F7F7F7"/>
              </a:highlight>
              <a:latin typeface="Courier New"/>
              <a:ea typeface="Courier New"/>
              <a:cs typeface="Courier New"/>
              <a:sym typeface="Courier New"/>
            </a:endParaRPr>
          </a:p>
        </p:txBody>
      </p:sp>
    </p:spTree>
    <p:extLst>
      <p:ext uri="{BB962C8B-B14F-4D97-AF65-F5344CB8AC3E}">
        <p14:creationId xmlns:p14="http://schemas.microsoft.com/office/powerpoint/2010/main" val="774100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0334D-A1EF-70A5-C469-437641EFD7E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8E2D74C-6547-129F-0B6F-70E37900D1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595;p128">
            <a:extLst>
              <a:ext uri="{FF2B5EF4-FFF2-40B4-BE49-F238E27FC236}">
                <a16:creationId xmlns:a16="http://schemas.microsoft.com/office/drawing/2014/main" id="{7CF2C48A-7E46-DFAD-834F-FE2E211AC57E}"/>
              </a:ext>
            </a:extLst>
          </p:cNvPr>
          <p:cNvSpPr txBox="1"/>
          <p:nvPr/>
        </p:nvSpPr>
        <p:spPr>
          <a:xfrm>
            <a:off x="2517743" y="1153843"/>
            <a:ext cx="6221400" cy="11544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s" sz="3500" b="1" dirty="0">
                <a:solidFill>
                  <a:schemeClr val="lt1"/>
                </a:solidFill>
                <a:latin typeface="DM Sans"/>
                <a:ea typeface="DM Sans"/>
                <a:cs typeface="DM Sans"/>
                <a:sym typeface="DM Sans"/>
              </a:rPr>
              <a:t>Middleware de nivel de endpoint</a:t>
            </a:r>
            <a:endParaRPr sz="3500" b="1" dirty="0">
              <a:solidFill>
                <a:schemeClr val="lt1"/>
              </a:solidFill>
              <a:latin typeface="DM Sans"/>
              <a:ea typeface="DM Sans"/>
              <a:cs typeface="DM Sans"/>
              <a:sym typeface="DM Sans"/>
            </a:endParaRPr>
          </a:p>
        </p:txBody>
      </p:sp>
      <p:sp>
        <p:nvSpPr>
          <p:cNvPr id="3" name="Google Shape;597;p128">
            <a:extLst>
              <a:ext uri="{FF2B5EF4-FFF2-40B4-BE49-F238E27FC236}">
                <a16:creationId xmlns:a16="http://schemas.microsoft.com/office/drawing/2014/main" id="{2E4CA9D9-13DF-CE94-204E-F4D411E0A777}"/>
              </a:ext>
            </a:extLst>
          </p:cNvPr>
          <p:cNvSpPr txBox="1"/>
          <p:nvPr/>
        </p:nvSpPr>
        <p:spPr>
          <a:xfrm>
            <a:off x="1882468" y="3194243"/>
            <a:ext cx="3176700" cy="2015400"/>
          </a:xfrm>
          <a:prstGeom prst="rect">
            <a:avLst/>
          </a:prstGeom>
          <a:solidFill>
            <a:srgbClr val="1E1E1E"/>
          </a:solid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es" sz="900">
                <a:solidFill>
                  <a:srgbClr val="569CD6"/>
                </a:solidFill>
                <a:highlight>
                  <a:srgbClr val="1E1E1E"/>
                </a:highlight>
                <a:latin typeface="Courier New"/>
                <a:ea typeface="Courier New"/>
                <a:cs typeface="Courier New"/>
                <a:sym typeface="Courier New"/>
              </a:rPr>
              <a:t>function</a:t>
            </a:r>
            <a:r>
              <a:rPr lang="es" sz="900">
                <a:solidFill>
                  <a:srgbClr val="D4D4D4"/>
                </a:solidFill>
                <a:highlight>
                  <a:srgbClr val="1E1E1E"/>
                </a:highlight>
                <a:latin typeface="Courier New"/>
                <a:ea typeface="Courier New"/>
                <a:cs typeface="Courier New"/>
                <a:sym typeface="Courier New"/>
              </a:rPr>
              <a:t> </a:t>
            </a:r>
            <a:r>
              <a:rPr lang="es" sz="900">
                <a:solidFill>
                  <a:srgbClr val="DCDCAA"/>
                </a:solidFill>
                <a:highlight>
                  <a:srgbClr val="1E1E1E"/>
                </a:highlight>
                <a:latin typeface="Courier New"/>
                <a:ea typeface="Courier New"/>
                <a:cs typeface="Courier New"/>
                <a:sym typeface="Courier New"/>
              </a:rPr>
              <a:t>mid1</a:t>
            </a:r>
            <a:r>
              <a:rPr lang="es" sz="900">
                <a:solidFill>
                  <a:srgbClr val="D4D4D4"/>
                </a:solidFill>
                <a:highlight>
                  <a:srgbClr val="1E1E1E"/>
                </a:highlight>
                <a:latin typeface="Courier New"/>
                <a:ea typeface="Courier New"/>
                <a:cs typeface="Courier New"/>
                <a:sym typeface="Courier New"/>
              </a:rPr>
              <a:t>(</a:t>
            </a:r>
            <a:r>
              <a:rPr lang="es" sz="900">
                <a:solidFill>
                  <a:srgbClr val="9CDCFE"/>
                </a:solidFill>
                <a:highlight>
                  <a:srgbClr val="1E1E1E"/>
                </a:highlight>
                <a:latin typeface="Courier New"/>
                <a:ea typeface="Courier New"/>
                <a:cs typeface="Courier New"/>
                <a:sym typeface="Courier New"/>
              </a:rPr>
              <a:t>req</a:t>
            </a:r>
            <a:r>
              <a:rPr lang="es" sz="900">
                <a:solidFill>
                  <a:srgbClr val="D4D4D4"/>
                </a:solidFill>
                <a:highlight>
                  <a:srgbClr val="1E1E1E"/>
                </a:highlight>
                <a:latin typeface="Courier New"/>
                <a:ea typeface="Courier New"/>
                <a:cs typeface="Courier New"/>
                <a:sym typeface="Courier New"/>
              </a:rPr>
              <a:t>, </a:t>
            </a:r>
            <a:r>
              <a:rPr lang="es" sz="900">
                <a:solidFill>
                  <a:srgbClr val="9CDCFE"/>
                </a:solidFill>
                <a:highlight>
                  <a:srgbClr val="1E1E1E"/>
                </a:highlight>
                <a:latin typeface="Courier New"/>
                <a:ea typeface="Courier New"/>
                <a:cs typeface="Courier New"/>
                <a:sym typeface="Courier New"/>
              </a:rPr>
              <a:t>res</a:t>
            </a:r>
            <a:r>
              <a:rPr lang="es" sz="900">
                <a:solidFill>
                  <a:srgbClr val="D4D4D4"/>
                </a:solidFill>
                <a:highlight>
                  <a:srgbClr val="1E1E1E"/>
                </a:highlight>
                <a:latin typeface="Courier New"/>
                <a:ea typeface="Courier New"/>
                <a:cs typeface="Courier New"/>
                <a:sym typeface="Courier New"/>
              </a:rPr>
              <a:t>, </a:t>
            </a:r>
            <a:r>
              <a:rPr lang="es" sz="900">
                <a:solidFill>
                  <a:srgbClr val="9CDCFE"/>
                </a:solidFill>
                <a:highlight>
                  <a:srgbClr val="1E1E1E"/>
                </a:highlight>
                <a:latin typeface="Courier New"/>
                <a:ea typeface="Courier New"/>
                <a:cs typeface="Courier New"/>
                <a:sym typeface="Courier New"/>
              </a:rPr>
              <a:t>next</a:t>
            </a:r>
            <a:r>
              <a:rPr lang="es" sz="900">
                <a:solidFill>
                  <a:srgbClr val="D4D4D4"/>
                </a:solidFill>
                <a:highlight>
                  <a:srgbClr val="1E1E1E"/>
                </a:highlight>
                <a:latin typeface="Courier New"/>
                <a:ea typeface="Courier New"/>
                <a:cs typeface="Courier New"/>
                <a:sym typeface="Courier New"/>
              </a:rPr>
              <a:t>) {</a:t>
            </a: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a:solidFill>
                  <a:srgbClr val="D4D4D4"/>
                </a:solidFill>
                <a:highlight>
                  <a:srgbClr val="1E1E1E"/>
                </a:highlight>
                <a:latin typeface="Courier New"/>
                <a:ea typeface="Courier New"/>
                <a:cs typeface="Courier New"/>
                <a:sym typeface="Courier New"/>
              </a:rPr>
              <a:t>   </a:t>
            </a:r>
            <a:r>
              <a:rPr lang="es" sz="900">
                <a:solidFill>
                  <a:srgbClr val="9CDCFE"/>
                </a:solidFill>
                <a:highlight>
                  <a:srgbClr val="1E1E1E"/>
                </a:highlight>
                <a:latin typeface="Courier New"/>
                <a:ea typeface="Courier New"/>
                <a:cs typeface="Courier New"/>
                <a:sym typeface="Courier New"/>
              </a:rPr>
              <a:t>req</a:t>
            </a:r>
            <a:r>
              <a:rPr lang="es" sz="900">
                <a:solidFill>
                  <a:srgbClr val="D4D4D4"/>
                </a:solidFill>
                <a:highlight>
                  <a:srgbClr val="1E1E1E"/>
                </a:highlight>
                <a:latin typeface="Courier New"/>
                <a:ea typeface="Courier New"/>
                <a:cs typeface="Courier New"/>
                <a:sym typeface="Courier New"/>
              </a:rPr>
              <a:t>.</a:t>
            </a:r>
            <a:r>
              <a:rPr lang="es" sz="900">
                <a:solidFill>
                  <a:srgbClr val="9CDCFE"/>
                </a:solidFill>
                <a:highlight>
                  <a:srgbClr val="1E1E1E"/>
                </a:highlight>
                <a:latin typeface="Courier New"/>
                <a:ea typeface="Courier New"/>
                <a:cs typeface="Courier New"/>
                <a:sym typeface="Courier New"/>
              </a:rPr>
              <a:t>dato1</a:t>
            </a:r>
            <a:r>
              <a:rPr lang="es" sz="900">
                <a:solidFill>
                  <a:srgbClr val="D4D4D4"/>
                </a:solidFill>
                <a:highlight>
                  <a:srgbClr val="1E1E1E"/>
                </a:highlight>
                <a:latin typeface="Courier New"/>
                <a:ea typeface="Courier New"/>
                <a:cs typeface="Courier New"/>
                <a:sym typeface="Courier New"/>
              </a:rPr>
              <a:t> = </a:t>
            </a:r>
            <a:r>
              <a:rPr lang="es" sz="900">
                <a:solidFill>
                  <a:srgbClr val="CE9178"/>
                </a:solidFill>
                <a:highlight>
                  <a:srgbClr val="1E1E1E"/>
                </a:highlight>
                <a:latin typeface="Courier New"/>
                <a:ea typeface="Courier New"/>
                <a:cs typeface="Courier New"/>
                <a:sym typeface="Courier New"/>
              </a:rPr>
              <a:t>'un dato'</a:t>
            </a:r>
            <a:endParaRPr sz="900">
              <a:solidFill>
                <a:srgbClr val="CE9178"/>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a:solidFill>
                  <a:srgbClr val="D4D4D4"/>
                </a:solidFill>
                <a:highlight>
                  <a:srgbClr val="1E1E1E"/>
                </a:highlight>
                <a:latin typeface="Courier New"/>
                <a:ea typeface="Courier New"/>
                <a:cs typeface="Courier New"/>
                <a:sym typeface="Courier New"/>
              </a:rPr>
              <a:t>   </a:t>
            </a:r>
            <a:r>
              <a:rPr lang="es" sz="900">
                <a:solidFill>
                  <a:srgbClr val="DCDCAA"/>
                </a:solidFill>
                <a:highlight>
                  <a:srgbClr val="1E1E1E"/>
                </a:highlight>
                <a:latin typeface="Courier New"/>
                <a:ea typeface="Courier New"/>
                <a:cs typeface="Courier New"/>
                <a:sym typeface="Courier New"/>
              </a:rPr>
              <a:t>next</a:t>
            </a:r>
            <a:r>
              <a:rPr lang="es" sz="900">
                <a:solidFill>
                  <a:srgbClr val="D4D4D4"/>
                </a:solidFill>
                <a:highlight>
                  <a:srgbClr val="1E1E1E"/>
                </a:highlight>
                <a:latin typeface="Courier New"/>
                <a:ea typeface="Courier New"/>
                <a:cs typeface="Courier New"/>
                <a:sym typeface="Courier New"/>
              </a:rPr>
              <a:t>()</a:t>
            </a: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a:solidFill>
                  <a:srgbClr val="D4D4D4"/>
                </a:solidFill>
                <a:highlight>
                  <a:srgbClr val="1E1E1E"/>
                </a:highlight>
                <a:latin typeface="Courier New"/>
                <a:ea typeface="Courier New"/>
                <a:cs typeface="Courier New"/>
                <a:sym typeface="Courier New"/>
              </a:rPr>
              <a:t>}</a:t>
            </a: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a:solidFill>
                  <a:srgbClr val="569CD6"/>
                </a:solidFill>
                <a:highlight>
                  <a:srgbClr val="1E1E1E"/>
                </a:highlight>
                <a:latin typeface="Courier New"/>
                <a:ea typeface="Courier New"/>
                <a:cs typeface="Courier New"/>
                <a:sym typeface="Courier New"/>
              </a:rPr>
              <a:t>function</a:t>
            </a:r>
            <a:r>
              <a:rPr lang="es" sz="900">
                <a:solidFill>
                  <a:srgbClr val="D4D4D4"/>
                </a:solidFill>
                <a:highlight>
                  <a:srgbClr val="1E1E1E"/>
                </a:highlight>
                <a:latin typeface="Courier New"/>
                <a:ea typeface="Courier New"/>
                <a:cs typeface="Courier New"/>
                <a:sym typeface="Courier New"/>
              </a:rPr>
              <a:t> </a:t>
            </a:r>
            <a:r>
              <a:rPr lang="es" sz="900">
                <a:solidFill>
                  <a:srgbClr val="DCDCAA"/>
                </a:solidFill>
                <a:highlight>
                  <a:srgbClr val="1E1E1E"/>
                </a:highlight>
                <a:latin typeface="Courier New"/>
                <a:ea typeface="Courier New"/>
                <a:cs typeface="Courier New"/>
                <a:sym typeface="Courier New"/>
              </a:rPr>
              <a:t>mid2</a:t>
            </a:r>
            <a:r>
              <a:rPr lang="es" sz="900">
                <a:solidFill>
                  <a:srgbClr val="D4D4D4"/>
                </a:solidFill>
                <a:highlight>
                  <a:srgbClr val="1E1E1E"/>
                </a:highlight>
                <a:latin typeface="Courier New"/>
                <a:ea typeface="Courier New"/>
                <a:cs typeface="Courier New"/>
                <a:sym typeface="Courier New"/>
              </a:rPr>
              <a:t>(</a:t>
            </a:r>
            <a:r>
              <a:rPr lang="es" sz="900">
                <a:solidFill>
                  <a:srgbClr val="9CDCFE"/>
                </a:solidFill>
                <a:highlight>
                  <a:srgbClr val="1E1E1E"/>
                </a:highlight>
                <a:latin typeface="Courier New"/>
                <a:ea typeface="Courier New"/>
                <a:cs typeface="Courier New"/>
                <a:sym typeface="Courier New"/>
              </a:rPr>
              <a:t>req</a:t>
            </a:r>
            <a:r>
              <a:rPr lang="es" sz="900">
                <a:solidFill>
                  <a:srgbClr val="D4D4D4"/>
                </a:solidFill>
                <a:highlight>
                  <a:srgbClr val="1E1E1E"/>
                </a:highlight>
                <a:latin typeface="Courier New"/>
                <a:ea typeface="Courier New"/>
                <a:cs typeface="Courier New"/>
                <a:sym typeface="Courier New"/>
              </a:rPr>
              <a:t>, </a:t>
            </a:r>
            <a:r>
              <a:rPr lang="es" sz="900">
                <a:solidFill>
                  <a:srgbClr val="9CDCFE"/>
                </a:solidFill>
                <a:highlight>
                  <a:srgbClr val="1E1E1E"/>
                </a:highlight>
                <a:latin typeface="Courier New"/>
                <a:ea typeface="Courier New"/>
                <a:cs typeface="Courier New"/>
                <a:sym typeface="Courier New"/>
              </a:rPr>
              <a:t>res</a:t>
            </a:r>
            <a:r>
              <a:rPr lang="es" sz="900">
                <a:solidFill>
                  <a:srgbClr val="D4D4D4"/>
                </a:solidFill>
                <a:highlight>
                  <a:srgbClr val="1E1E1E"/>
                </a:highlight>
                <a:latin typeface="Courier New"/>
                <a:ea typeface="Courier New"/>
                <a:cs typeface="Courier New"/>
                <a:sym typeface="Courier New"/>
              </a:rPr>
              <a:t>, </a:t>
            </a:r>
            <a:r>
              <a:rPr lang="es" sz="900">
                <a:solidFill>
                  <a:srgbClr val="9CDCFE"/>
                </a:solidFill>
                <a:highlight>
                  <a:srgbClr val="1E1E1E"/>
                </a:highlight>
                <a:latin typeface="Courier New"/>
                <a:ea typeface="Courier New"/>
                <a:cs typeface="Courier New"/>
                <a:sym typeface="Courier New"/>
              </a:rPr>
              <a:t>next</a:t>
            </a:r>
            <a:r>
              <a:rPr lang="es" sz="900">
                <a:solidFill>
                  <a:srgbClr val="D4D4D4"/>
                </a:solidFill>
                <a:highlight>
                  <a:srgbClr val="1E1E1E"/>
                </a:highlight>
                <a:latin typeface="Courier New"/>
                <a:ea typeface="Courier New"/>
                <a:cs typeface="Courier New"/>
                <a:sym typeface="Courier New"/>
              </a:rPr>
              <a:t>) {</a:t>
            </a: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a:solidFill>
                  <a:srgbClr val="D4D4D4"/>
                </a:solidFill>
                <a:highlight>
                  <a:srgbClr val="1E1E1E"/>
                </a:highlight>
                <a:latin typeface="Courier New"/>
                <a:ea typeface="Courier New"/>
                <a:cs typeface="Courier New"/>
                <a:sym typeface="Courier New"/>
              </a:rPr>
              <a:t>   </a:t>
            </a:r>
            <a:r>
              <a:rPr lang="es" sz="900">
                <a:solidFill>
                  <a:srgbClr val="9CDCFE"/>
                </a:solidFill>
                <a:highlight>
                  <a:srgbClr val="1E1E1E"/>
                </a:highlight>
                <a:latin typeface="Courier New"/>
                <a:ea typeface="Courier New"/>
                <a:cs typeface="Courier New"/>
                <a:sym typeface="Courier New"/>
              </a:rPr>
              <a:t>req</a:t>
            </a:r>
            <a:r>
              <a:rPr lang="es" sz="900">
                <a:solidFill>
                  <a:srgbClr val="D4D4D4"/>
                </a:solidFill>
                <a:highlight>
                  <a:srgbClr val="1E1E1E"/>
                </a:highlight>
                <a:latin typeface="Courier New"/>
                <a:ea typeface="Courier New"/>
                <a:cs typeface="Courier New"/>
                <a:sym typeface="Courier New"/>
              </a:rPr>
              <a:t>.</a:t>
            </a:r>
            <a:r>
              <a:rPr lang="es" sz="900">
                <a:solidFill>
                  <a:srgbClr val="9CDCFE"/>
                </a:solidFill>
                <a:highlight>
                  <a:srgbClr val="1E1E1E"/>
                </a:highlight>
                <a:latin typeface="Courier New"/>
                <a:ea typeface="Courier New"/>
                <a:cs typeface="Courier New"/>
                <a:sym typeface="Courier New"/>
              </a:rPr>
              <a:t>dato2</a:t>
            </a:r>
            <a:r>
              <a:rPr lang="es" sz="900">
                <a:solidFill>
                  <a:srgbClr val="D4D4D4"/>
                </a:solidFill>
                <a:highlight>
                  <a:srgbClr val="1E1E1E"/>
                </a:highlight>
                <a:latin typeface="Courier New"/>
                <a:ea typeface="Courier New"/>
                <a:cs typeface="Courier New"/>
                <a:sym typeface="Courier New"/>
              </a:rPr>
              <a:t> = </a:t>
            </a:r>
            <a:r>
              <a:rPr lang="es" sz="900">
                <a:solidFill>
                  <a:srgbClr val="CE9178"/>
                </a:solidFill>
                <a:highlight>
                  <a:srgbClr val="1E1E1E"/>
                </a:highlight>
                <a:latin typeface="Courier New"/>
                <a:ea typeface="Courier New"/>
                <a:cs typeface="Courier New"/>
                <a:sym typeface="Courier New"/>
              </a:rPr>
              <a:t>'otro dato'</a:t>
            </a:r>
            <a:endParaRPr sz="900">
              <a:solidFill>
                <a:srgbClr val="CE9178"/>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a:solidFill>
                  <a:srgbClr val="D4D4D4"/>
                </a:solidFill>
                <a:highlight>
                  <a:srgbClr val="1E1E1E"/>
                </a:highlight>
                <a:latin typeface="Courier New"/>
                <a:ea typeface="Courier New"/>
                <a:cs typeface="Courier New"/>
                <a:sym typeface="Courier New"/>
              </a:rPr>
              <a:t>   </a:t>
            </a:r>
            <a:r>
              <a:rPr lang="es" sz="900">
                <a:solidFill>
                  <a:srgbClr val="DCDCAA"/>
                </a:solidFill>
                <a:highlight>
                  <a:srgbClr val="1E1E1E"/>
                </a:highlight>
                <a:latin typeface="Courier New"/>
                <a:ea typeface="Courier New"/>
                <a:cs typeface="Courier New"/>
                <a:sym typeface="Courier New"/>
              </a:rPr>
              <a:t>next</a:t>
            </a:r>
            <a:r>
              <a:rPr lang="es" sz="900">
                <a:solidFill>
                  <a:srgbClr val="D4D4D4"/>
                </a:solidFill>
                <a:highlight>
                  <a:srgbClr val="1E1E1E"/>
                </a:highlight>
                <a:latin typeface="Courier New"/>
                <a:ea typeface="Courier New"/>
                <a:cs typeface="Courier New"/>
                <a:sym typeface="Courier New"/>
              </a:rPr>
              <a:t>()</a:t>
            </a: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 sz="900">
                <a:solidFill>
                  <a:srgbClr val="D4D4D4"/>
                </a:solidFill>
                <a:highlight>
                  <a:srgbClr val="1E1E1E"/>
                </a:highlight>
                <a:latin typeface="Courier New"/>
                <a:ea typeface="Courier New"/>
                <a:cs typeface="Courier New"/>
                <a:sym typeface="Courier New"/>
              </a:rPr>
              <a:t>}</a:t>
            </a:r>
            <a:endParaRPr sz="90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900">
              <a:solidFill>
                <a:srgbClr val="D4D4D4"/>
              </a:solidFill>
              <a:highlight>
                <a:srgbClr val="1E1E1E"/>
              </a:highlight>
              <a:latin typeface="Courier New"/>
              <a:ea typeface="Courier New"/>
              <a:cs typeface="Courier New"/>
              <a:sym typeface="Courier New"/>
            </a:endParaRPr>
          </a:p>
        </p:txBody>
      </p:sp>
      <p:sp>
        <p:nvSpPr>
          <p:cNvPr id="4" name="Google Shape;598;p128">
            <a:extLst>
              <a:ext uri="{FF2B5EF4-FFF2-40B4-BE49-F238E27FC236}">
                <a16:creationId xmlns:a16="http://schemas.microsoft.com/office/drawing/2014/main" id="{98750F48-43D0-F29D-E3CD-6DD66ED52D0F}"/>
              </a:ext>
            </a:extLst>
          </p:cNvPr>
          <p:cNvSpPr txBox="1"/>
          <p:nvPr/>
        </p:nvSpPr>
        <p:spPr>
          <a:xfrm>
            <a:off x="6418785" y="3100343"/>
            <a:ext cx="3616500" cy="2203200"/>
          </a:xfrm>
          <a:prstGeom prst="rect">
            <a:avLst/>
          </a:prstGeom>
          <a:solidFill>
            <a:srgbClr val="1E1E1E"/>
          </a:solid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dk1"/>
              </a:buClr>
              <a:buSzPts val="1100"/>
              <a:buFont typeface="Arial"/>
              <a:buNone/>
            </a:pPr>
            <a:r>
              <a:rPr lang="es" sz="900" dirty="0">
                <a:solidFill>
                  <a:srgbClr val="9CDCFE"/>
                </a:solidFill>
                <a:highlight>
                  <a:srgbClr val="1E1E1E"/>
                </a:highlight>
                <a:latin typeface="Courier New"/>
                <a:ea typeface="Courier New"/>
                <a:cs typeface="Courier New"/>
                <a:sym typeface="Courier New"/>
              </a:rPr>
              <a:t>app</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DCDCAA"/>
                </a:solidFill>
                <a:highlight>
                  <a:srgbClr val="1E1E1E"/>
                </a:highlight>
                <a:latin typeface="Courier New"/>
                <a:ea typeface="Courier New"/>
                <a:cs typeface="Courier New"/>
                <a:sym typeface="Courier New"/>
              </a:rPr>
              <a:t>get</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CE9178"/>
                </a:solidFill>
                <a:highlight>
                  <a:srgbClr val="1E1E1E"/>
                </a:highlight>
                <a:latin typeface="Courier New"/>
                <a:ea typeface="Courier New"/>
                <a:cs typeface="Courier New"/>
                <a:sym typeface="Courier New"/>
              </a:rPr>
              <a:t>'/ruta1'</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mid1</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req</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res</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569CD6"/>
                </a:solidFill>
                <a:highlight>
                  <a:srgbClr val="1E1E1E"/>
                </a:highlight>
                <a:latin typeface="Courier New"/>
                <a:ea typeface="Courier New"/>
                <a:cs typeface="Courier New"/>
                <a:sym typeface="Courier New"/>
              </a:rPr>
              <a:t>=&gt;</a:t>
            </a:r>
            <a:r>
              <a:rPr lang="es" sz="900" dirty="0">
                <a:solidFill>
                  <a:srgbClr val="D4D4D4"/>
                </a:solidFill>
                <a:highlight>
                  <a:srgbClr val="1E1E1E"/>
                </a:highlight>
                <a:latin typeface="Courier New"/>
                <a:ea typeface="Courier New"/>
                <a:cs typeface="Courier New"/>
                <a:sym typeface="Courier New"/>
              </a:rPr>
              <a:t> {</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res</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DCDCAA"/>
                </a:solidFill>
                <a:highlight>
                  <a:srgbClr val="1E1E1E"/>
                </a:highlight>
                <a:latin typeface="Courier New"/>
                <a:ea typeface="Courier New"/>
                <a:cs typeface="Courier New"/>
                <a:sym typeface="Courier New"/>
              </a:rPr>
              <a:t>json</a:t>
            </a:r>
            <a:r>
              <a:rPr lang="es" sz="900" dirty="0">
                <a:solidFill>
                  <a:srgbClr val="D4D4D4"/>
                </a:solidFill>
                <a:highlight>
                  <a:srgbClr val="1E1E1E"/>
                </a:highlight>
                <a:latin typeface="Courier New"/>
                <a:ea typeface="Courier New"/>
                <a:cs typeface="Courier New"/>
                <a:sym typeface="Courier New"/>
              </a:rPr>
              <a:t>({</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dato1:</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req</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9CDCFE"/>
                </a:solidFill>
                <a:highlight>
                  <a:srgbClr val="1E1E1E"/>
                </a:highlight>
                <a:latin typeface="Courier New"/>
                <a:ea typeface="Courier New"/>
                <a:cs typeface="Courier New"/>
                <a:sym typeface="Courier New"/>
              </a:rPr>
              <a:t>dato1</a:t>
            </a:r>
            <a:endParaRPr sz="900" dirty="0">
              <a:solidFill>
                <a:srgbClr val="9CDCFE"/>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9CDCFE"/>
                </a:solidFill>
                <a:highlight>
                  <a:srgbClr val="1E1E1E"/>
                </a:highlight>
                <a:latin typeface="Courier New"/>
                <a:ea typeface="Courier New"/>
                <a:cs typeface="Courier New"/>
                <a:sym typeface="Courier New"/>
              </a:rPr>
              <a:t>app</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DCDCAA"/>
                </a:solidFill>
                <a:highlight>
                  <a:srgbClr val="1E1E1E"/>
                </a:highlight>
                <a:latin typeface="Courier New"/>
                <a:ea typeface="Courier New"/>
                <a:cs typeface="Courier New"/>
                <a:sym typeface="Courier New"/>
              </a:rPr>
              <a:t>get</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CE9178"/>
                </a:solidFill>
                <a:highlight>
                  <a:srgbClr val="1E1E1E"/>
                </a:highlight>
                <a:latin typeface="Courier New"/>
                <a:ea typeface="Courier New"/>
                <a:cs typeface="Courier New"/>
                <a:sym typeface="Courier New"/>
              </a:rPr>
              <a:t>'/ruta2'</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mid1</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mid2</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req</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res</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569CD6"/>
                </a:solidFill>
                <a:highlight>
                  <a:srgbClr val="1E1E1E"/>
                </a:highlight>
                <a:latin typeface="Courier New"/>
                <a:ea typeface="Courier New"/>
                <a:cs typeface="Courier New"/>
                <a:sym typeface="Courier New"/>
              </a:rPr>
              <a:t>=&gt;</a:t>
            </a:r>
            <a:r>
              <a:rPr lang="es" sz="900" dirty="0">
                <a:solidFill>
                  <a:srgbClr val="D4D4D4"/>
                </a:solidFill>
                <a:highlight>
                  <a:srgbClr val="1E1E1E"/>
                </a:highlight>
                <a:latin typeface="Courier New"/>
                <a:ea typeface="Courier New"/>
                <a:cs typeface="Courier New"/>
                <a:sym typeface="Courier New"/>
              </a:rPr>
              <a:t> {</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res</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DCDCAA"/>
                </a:solidFill>
                <a:highlight>
                  <a:srgbClr val="1E1E1E"/>
                </a:highlight>
                <a:latin typeface="Courier New"/>
                <a:ea typeface="Courier New"/>
                <a:cs typeface="Courier New"/>
                <a:sym typeface="Courier New"/>
              </a:rPr>
              <a:t>json</a:t>
            </a:r>
            <a:r>
              <a:rPr lang="es" sz="900" dirty="0">
                <a:solidFill>
                  <a:srgbClr val="D4D4D4"/>
                </a:solidFill>
                <a:highlight>
                  <a:srgbClr val="1E1E1E"/>
                </a:highlight>
                <a:latin typeface="Courier New"/>
                <a:ea typeface="Courier New"/>
                <a:cs typeface="Courier New"/>
                <a:sym typeface="Courier New"/>
              </a:rPr>
              <a:t>({</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dato1:</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req</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9CDCFE"/>
                </a:solidFill>
                <a:highlight>
                  <a:srgbClr val="1E1E1E"/>
                </a:highlight>
                <a:latin typeface="Courier New"/>
                <a:ea typeface="Courier New"/>
                <a:cs typeface="Courier New"/>
                <a:sym typeface="Courier New"/>
              </a:rPr>
              <a:t>dato1</a:t>
            </a:r>
            <a:r>
              <a:rPr lang="es" sz="900" dirty="0">
                <a:solidFill>
                  <a:srgbClr val="D4D4D4"/>
                </a:solidFill>
                <a:highlight>
                  <a:srgbClr val="1E1E1E"/>
                </a:highlight>
                <a:latin typeface="Courier New"/>
                <a:ea typeface="Courier New"/>
                <a:cs typeface="Courier New"/>
                <a:sym typeface="Courier New"/>
              </a:rPr>
              <a:t>,</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dato2:</a:t>
            </a:r>
            <a:r>
              <a:rPr lang="es" sz="900" dirty="0">
                <a:solidFill>
                  <a:srgbClr val="D4D4D4"/>
                </a:solidFill>
                <a:highlight>
                  <a:srgbClr val="1E1E1E"/>
                </a:highlight>
                <a:latin typeface="Courier New"/>
                <a:ea typeface="Courier New"/>
                <a:cs typeface="Courier New"/>
                <a:sym typeface="Courier New"/>
              </a:rPr>
              <a:t> </a:t>
            </a:r>
            <a:r>
              <a:rPr lang="es" sz="900" dirty="0">
                <a:solidFill>
                  <a:srgbClr val="9CDCFE"/>
                </a:solidFill>
                <a:highlight>
                  <a:srgbClr val="1E1E1E"/>
                </a:highlight>
                <a:latin typeface="Courier New"/>
                <a:ea typeface="Courier New"/>
                <a:cs typeface="Courier New"/>
                <a:sym typeface="Courier New"/>
              </a:rPr>
              <a:t>req</a:t>
            </a:r>
            <a:r>
              <a:rPr lang="es" sz="900" dirty="0">
                <a:solidFill>
                  <a:srgbClr val="D4D4D4"/>
                </a:solidFill>
                <a:highlight>
                  <a:srgbClr val="1E1E1E"/>
                </a:highlight>
                <a:latin typeface="Courier New"/>
                <a:ea typeface="Courier New"/>
                <a:cs typeface="Courier New"/>
                <a:sym typeface="Courier New"/>
              </a:rPr>
              <a:t>.</a:t>
            </a:r>
            <a:r>
              <a:rPr lang="es" sz="900" dirty="0">
                <a:solidFill>
                  <a:srgbClr val="9CDCFE"/>
                </a:solidFill>
                <a:highlight>
                  <a:srgbClr val="1E1E1E"/>
                </a:highlight>
                <a:latin typeface="Courier New"/>
                <a:ea typeface="Courier New"/>
                <a:cs typeface="Courier New"/>
                <a:sym typeface="Courier New"/>
              </a:rPr>
              <a:t>dato2</a:t>
            </a:r>
            <a:endParaRPr sz="900" dirty="0">
              <a:solidFill>
                <a:srgbClr val="9CDCFE"/>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   })</a:t>
            </a:r>
            <a:endParaRPr sz="900" dirty="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00" dirty="0">
                <a:solidFill>
                  <a:srgbClr val="D4D4D4"/>
                </a:solidFill>
                <a:highlight>
                  <a:srgbClr val="1E1E1E"/>
                </a:highlight>
                <a:latin typeface="Courier New"/>
                <a:ea typeface="Courier New"/>
                <a:cs typeface="Courier New"/>
                <a:sym typeface="Courier New"/>
              </a:rPr>
              <a:t>})</a:t>
            </a:r>
            <a:endParaRPr sz="1600" dirty="0"/>
          </a:p>
        </p:txBody>
      </p:sp>
    </p:spTree>
    <p:extLst>
      <p:ext uri="{BB962C8B-B14F-4D97-AF65-F5344CB8AC3E}">
        <p14:creationId xmlns:p14="http://schemas.microsoft.com/office/powerpoint/2010/main" val="146298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7B01-A66A-0903-24B3-38E360799EE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91C3092-CFF7-60FA-980A-4CD9115CCB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04;p129">
            <a:extLst>
              <a:ext uri="{FF2B5EF4-FFF2-40B4-BE49-F238E27FC236}">
                <a16:creationId xmlns:a16="http://schemas.microsoft.com/office/drawing/2014/main" id="{DF93BD34-33FD-9855-BB5B-3FDD23F47BB3}"/>
              </a:ext>
            </a:extLst>
          </p:cNvPr>
          <p:cNvSpPr txBox="1"/>
          <p:nvPr/>
        </p:nvSpPr>
        <p:spPr>
          <a:xfrm>
            <a:off x="2792950" y="1224864"/>
            <a:ext cx="6221400" cy="11544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s" sz="3500" b="1" dirty="0">
                <a:solidFill>
                  <a:schemeClr val="lt1"/>
                </a:solidFill>
                <a:latin typeface="DM Sans"/>
                <a:ea typeface="DM Sans"/>
                <a:cs typeface="DM Sans"/>
                <a:sym typeface="DM Sans"/>
              </a:rPr>
              <a:t>Middleware de nivel del Router</a:t>
            </a:r>
            <a:endParaRPr sz="3500" b="1" dirty="0">
              <a:solidFill>
                <a:schemeClr val="lt1"/>
              </a:solidFill>
              <a:latin typeface="DM Sans"/>
              <a:ea typeface="DM Sans"/>
              <a:cs typeface="DM Sans"/>
              <a:sym typeface="DM Sans"/>
            </a:endParaRPr>
          </a:p>
        </p:txBody>
      </p:sp>
      <p:sp>
        <p:nvSpPr>
          <p:cNvPr id="3" name="Google Shape;605;p129">
            <a:extLst>
              <a:ext uri="{FF2B5EF4-FFF2-40B4-BE49-F238E27FC236}">
                <a16:creationId xmlns:a16="http://schemas.microsoft.com/office/drawing/2014/main" id="{5CB3C34B-A7E6-0D1E-427C-C12202161899}"/>
              </a:ext>
            </a:extLst>
          </p:cNvPr>
          <p:cNvSpPr txBox="1"/>
          <p:nvPr/>
        </p:nvSpPr>
        <p:spPr>
          <a:xfrm>
            <a:off x="2088275" y="2609789"/>
            <a:ext cx="74133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solidFill>
                  <a:schemeClr val="bg1"/>
                </a:solidFill>
                <a:latin typeface="DM Sans"/>
                <a:ea typeface="DM Sans"/>
                <a:cs typeface="DM Sans"/>
                <a:sym typeface="DM Sans"/>
              </a:rPr>
              <a:t>El middleware de nivel de router funciona de la misma manera que el middleware de nivel de aplicación, excepto que está enlazado a una instancia de express.Router().</a:t>
            </a:r>
            <a:endParaRPr sz="1350">
              <a:solidFill>
                <a:schemeClr val="bg1"/>
              </a:solidFill>
              <a:latin typeface="DM Sans"/>
              <a:ea typeface="DM Sans"/>
              <a:cs typeface="DM Sans"/>
              <a:sym typeface="DM Sans"/>
            </a:endParaRPr>
          </a:p>
        </p:txBody>
      </p:sp>
      <p:sp>
        <p:nvSpPr>
          <p:cNvPr id="4" name="Google Shape;606;p129">
            <a:extLst>
              <a:ext uri="{FF2B5EF4-FFF2-40B4-BE49-F238E27FC236}">
                <a16:creationId xmlns:a16="http://schemas.microsoft.com/office/drawing/2014/main" id="{D6EF23CC-0A2A-F2B0-EEA7-2A1989E3536F}"/>
              </a:ext>
            </a:extLst>
          </p:cNvPr>
          <p:cNvSpPr txBox="1"/>
          <p:nvPr/>
        </p:nvSpPr>
        <p:spPr>
          <a:xfrm>
            <a:off x="2140750" y="3293214"/>
            <a:ext cx="7525800" cy="2026200"/>
          </a:xfrm>
          <a:prstGeom prst="rect">
            <a:avLst/>
          </a:prstGeom>
          <a:solidFill>
            <a:srgbClr val="1E1E1E"/>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Clr>
                <a:schemeClr val="dk1"/>
              </a:buClr>
              <a:buSzPts val="1100"/>
              <a:buFont typeface="Arial"/>
              <a:buNone/>
            </a:pPr>
            <a:r>
              <a:rPr lang="es" sz="950">
                <a:solidFill>
                  <a:srgbClr val="569CD6"/>
                </a:solidFill>
                <a:highlight>
                  <a:srgbClr val="1E1E1E"/>
                </a:highlight>
                <a:latin typeface="Courier New"/>
                <a:ea typeface="Courier New"/>
                <a:cs typeface="Courier New"/>
                <a:sym typeface="Courier New"/>
              </a:rPr>
              <a:t>const</a:t>
            </a:r>
            <a:r>
              <a:rPr lang="es" sz="950">
                <a:solidFill>
                  <a:srgbClr val="D4D4D4"/>
                </a:solidFill>
                <a:highlight>
                  <a:srgbClr val="1E1E1E"/>
                </a:highlight>
                <a:latin typeface="Courier New"/>
                <a:ea typeface="Courier New"/>
                <a:cs typeface="Courier New"/>
                <a:sym typeface="Courier New"/>
              </a:rPr>
              <a:t> </a:t>
            </a:r>
            <a:r>
              <a:rPr lang="es" sz="950">
                <a:solidFill>
                  <a:srgbClr val="4FC1FF"/>
                </a:solidFill>
                <a:highlight>
                  <a:srgbClr val="1E1E1E"/>
                </a:highlight>
                <a:latin typeface="Courier New"/>
                <a:ea typeface="Courier New"/>
                <a:cs typeface="Courier New"/>
                <a:sym typeface="Courier New"/>
              </a:rPr>
              <a:t>app</a:t>
            </a:r>
            <a:r>
              <a:rPr lang="es" sz="950">
                <a:solidFill>
                  <a:srgbClr val="D4D4D4"/>
                </a:solidFill>
                <a:highlight>
                  <a:srgbClr val="1E1E1E"/>
                </a:highlight>
                <a:latin typeface="Courier New"/>
                <a:ea typeface="Courier New"/>
                <a:cs typeface="Courier New"/>
                <a:sym typeface="Courier New"/>
              </a:rPr>
              <a:t> = </a:t>
            </a:r>
            <a:r>
              <a:rPr lang="es" sz="950">
                <a:solidFill>
                  <a:srgbClr val="DCDCAA"/>
                </a:solidFill>
                <a:highlight>
                  <a:srgbClr val="1E1E1E"/>
                </a:highlight>
                <a:latin typeface="Courier New"/>
                <a:ea typeface="Courier New"/>
                <a:cs typeface="Courier New"/>
                <a:sym typeface="Courier New"/>
              </a:rPr>
              <a:t>express</a:t>
            </a:r>
            <a:r>
              <a:rPr lang="es" sz="950">
                <a:solidFill>
                  <a:srgbClr val="D4D4D4"/>
                </a:solidFill>
                <a:highlight>
                  <a:srgbClr val="1E1E1E"/>
                </a:highlight>
                <a:latin typeface="Courier New"/>
                <a:ea typeface="Courier New"/>
                <a:cs typeface="Courier New"/>
                <a:sym typeface="Courier New"/>
              </a:rPr>
              <a:t>();</a:t>
            </a:r>
            <a:endParaRPr sz="9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50">
                <a:solidFill>
                  <a:srgbClr val="569CD6"/>
                </a:solidFill>
                <a:highlight>
                  <a:srgbClr val="1E1E1E"/>
                </a:highlight>
                <a:latin typeface="Courier New"/>
                <a:ea typeface="Courier New"/>
                <a:cs typeface="Courier New"/>
                <a:sym typeface="Courier New"/>
              </a:rPr>
              <a:t>const</a:t>
            </a:r>
            <a:r>
              <a:rPr lang="es" sz="950">
                <a:solidFill>
                  <a:srgbClr val="D4D4D4"/>
                </a:solidFill>
                <a:highlight>
                  <a:srgbClr val="1E1E1E"/>
                </a:highlight>
                <a:latin typeface="Courier New"/>
                <a:ea typeface="Courier New"/>
                <a:cs typeface="Courier New"/>
                <a:sym typeface="Courier New"/>
              </a:rPr>
              <a:t> </a:t>
            </a:r>
            <a:r>
              <a:rPr lang="es" sz="950">
                <a:solidFill>
                  <a:srgbClr val="4FC1FF"/>
                </a:solidFill>
                <a:highlight>
                  <a:srgbClr val="1E1E1E"/>
                </a:highlight>
                <a:latin typeface="Courier New"/>
                <a:ea typeface="Courier New"/>
                <a:cs typeface="Courier New"/>
                <a:sym typeface="Courier New"/>
              </a:rPr>
              <a:t>router</a:t>
            </a:r>
            <a:r>
              <a:rPr lang="es" sz="950">
                <a:solidFill>
                  <a:srgbClr val="D4D4D4"/>
                </a:solidFill>
                <a:highlight>
                  <a:srgbClr val="1E1E1E"/>
                </a:highlight>
                <a:latin typeface="Courier New"/>
                <a:ea typeface="Courier New"/>
                <a:cs typeface="Courier New"/>
                <a:sym typeface="Courier New"/>
              </a:rPr>
              <a:t> = </a:t>
            </a:r>
            <a:r>
              <a:rPr lang="es" sz="950">
                <a:solidFill>
                  <a:srgbClr val="9CDCFE"/>
                </a:solidFill>
                <a:highlight>
                  <a:srgbClr val="1E1E1E"/>
                </a:highlight>
                <a:latin typeface="Courier New"/>
                <a:ea typeface="Courier New"/>
                <a:cs typeface="Courier New"/>
                <a:sym typeface="Courier New"/>
              </a:rPr>
              <a:t>express</a:t>
            </a:r>
            <a:r>
              <a:rPr lang="es" sz="950">
                <a:solidFill>
                  <a:srgbClr val="D4D4D4"/>
                </a:solidFill>
                <a:highlight>
                  <a:srgbClr val="1E1E1E"/>
                </a:highlight>
                <a:latin typeface="Courier New"/>
                <a:ea typeface="Courier New"/>
                <a:cs typeface="Courier New"/>
                <a:sym typeface="Courier New"/>
              </a:rPr>
              <a:t>.</a:t>
            </a:r>
            <a:r>
              <a:rPr lang="es" sz="950">
                <a:solidFill>
                  <a:srgbClr val="DCDCAA"/>
                </a:solidFill>
                <a:highlight>
                  <a:srgbClr val="1E1E1E"/>
                </a:highlight>
                <a:latin typeface="Courier New"/>
                <a:ea typeface="Courier New"/>
                <a:cs typeface="Courier New"/>
                <a:sym typeface="Courier New"/>
              </a:rPr>
              <a:t>Router</a:t>
            </a:r>
            <a:r>
              <a:rPr lang="es" sz="950">
                <a:solidFill>
                  <a:srgbClr val="D4D4D4"/>
                </a:solidFill>
                <a:highlight>
                  <a:srgbClr val="1E1E1E"/>
                </a:highlight>
                <a:latin typeface="Courier New"/>
                <a:ea typeface="Courier New"/>
                <a:cs typeface="Courier New"/>
                <a:sym typeface="Courier New"/>
              </a:rPr>
              <a:t>();</a:t>
            </a:r>
            <a:endParaRPr sz="9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9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 sz="950">
                <a:solidFill>
                  <a:srgbClr val="6A9955"/>
                </a:solidFill>
                <a:highlight>
                  <a:srgbClr val="1E1E1E"/>
                </a:highlight>
                <a:latin typeface="Courier New"/>
                <a:ea typeface="Courier New"/>
                <a:cs typeface="Courier New"/>
                <a:sym typeface="Courier New"/>
              </a:rPr>
              <a:t>// funcion middleware sin via de acceso de montaje.</a:t>
            </a:r>
            <a:endParaRPr sz="950">
              <a:solidFill>
                <a:srgbClr val="6A9955"/>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50">
                <a:solidFill>
                  <a:srgbClr val="6A9955"/>
                </a:solidFill>
                <a:highlight>
                  <a:srgbClr val="1E1E1E"/>
                </a:highlight>
                <a:latin typeface="Courier New"/>
                <a:ea typeface="Courier New"/>
                <a:cs typeface="Courier New"/>
                <a:sym typeface="Courier New"/>
              </a:rPr>
              <a:t>// El codigo es ejecutado por cada peticion al router</a:t>
            </a:r>
            <a:endParaRPr sz="950">
              <a:solidFill>
                <a:srgbClr val="6A9955"/>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50">
                <a:solidFill>
                  <a:srgbClr val="9CDCFE"/>
                </a:solidFill>
                <a:highlight>
                  <a:srgbClr val="1E1E1E"/>
                </a:highlight>
                <a:latin typeface="Courier New"/>
                <a:ea typeface="Courier New"/>
                <a:cs typeface="Courier New"/>
                <a:sym typeface="Courier New"/>
              </a:rPr>
              <a:t>router</a:t>
            </a:r>
            <a:r>
              <a:rPr lang="es" sz="950">
                <a:solidFill>
                  <a:srgbClr val="D4D4D4"/>
                </a:solidFill>
                <a:highlight>
                  <a:srgbClr val="1E1E1E"/>
                </a:highlight>
                <a:latin typeface="Courier New"/>
                <a:ea typeface="Courier New"/>
                <a:cs typeface="Courier New"/>
                <a:sym typeface="Courier New"/>
              </a:rPr>
              <a:t>.</a:t>
            </a:r>
            <a:r>
              <a:rPr lang="es" sz="950">
                <a:solidFill>
                  <a:srgbClr val="DCDCAA"/>
                </a:solidFill>
                <a:highlight>
                  <a:srgbClr val="1E1E1E"/>
                </a:highlight>
                <a:latin typeface="Courier New"/>
                <a:ea typeface="Courier New"/>
                <a:cs typeface="Courier New"/>
                <a:sym typeface="Courier New"/>
              </a:rPr>
              <a:t>use</a:t>
            </a:r>
            <a:r>
              <a:rPr lang="es" sz="950">
                <a:solidFill>
                  <a:srgbClr val="D4D4D4"/>
                </a:solidFill>
                <a:highlight>
                  <a:srgbClr val="1E1E1E"/>
                </a:highlight>
                <a:latin typeface="Courier New"/>
                <a:ea typeface="Courier New"/>
                <a:cs typeface="Courier New"/>
                <a:sym typeface="Courier New"/>
              </a:rPr>
              <a:t>(</a:t>
            </a:r>
            <a:r>
              <a:rPr lang="es" sz="950">
                <a:solidFill>
                  <a:srgbClr val="569CD6"/>
                </a:solidFill>
                <a:highlight>
                  <a:srgbClr val="1E1E1E"/>
                </a:highlight>
                <a:latin typeface="Courier New"/>
                <a:ea typeface="Courier New"/>
                <a:cs typeface="Courier New"/>
                <a:sym typeface="Courier New"/>
              </a:rPr>
              <a:t>function</a:t>
            </a:r>
            <a:r>
              <a:rPr lang="es" sz="950">
                <a:solidFill>
                  <a:srgbClr val="D4D4D4"/>
                </a:solidFill>
                <a:highlight>
                  <a:srgbClr val="1E1E1E"/>
                </a:highlight>
                <a:latin typeface="Courier New"/>
                <a:ea typeface="Courier New"/>
                <a:cs typeface="Courier New"/>
                <a:sym typeface="Courier New"/>
              </a:rPr>
              <a:t> (</a:t>
            </a:r>
            <a:r>
              <a:rPr lang="es" sz="950">
                <a:solidFill>
                  <a:srgbClr val="9CDCFE"/>
                </a:solidFill>
                <a:highlight>
                  <a:srgbClr val="1E1E1E"/>
                </a:highlight>
                <a:latin typeface="Courier New"/>
                <a:ea typeface="Courier New"/>
                <a:cs typeface="Courier New"/>
                <a:sym typeface="Courier New"/>
              </a:rPr>
              <a:t>req</a:t>
            </a:r>
            <a:r>
              <a:rPr lang="es" sz="950">
                <a:solidFill>
                  <a:srgbClr val="D4D4D4"/>
                </a:solidFill>
                <a:highlight>
                  <a:srgbClr val="1E1E1E"/>
                </a:highlight>
                <a:latin typeface="Courier New"/>
                <a:ea typeface="Courier New"/>
                <a:cs typeface="Courier New"/>
                <a:sym typeface="Courier New"/>
              </a:rPr>
              <a:t>, </a:t>
            </a:r>
            <a:r>
              <a:rPr lang="es" sz="950">
                <a:solidFill>
                  <a:srgbClr val="9CDCFE"/>
                </a:solidFill>
                <a:highlight>
                  <a:srgbClr val="1E1E1E"/>
                </a:highlight>
                <a:latin typeface="Courier New"/>
                <a:ea typeface="Courier New"/>
                <a:cs typeface="Courier New"/>
                <a:sym typeface="Courier New"/>
              </a:rPr>
              <a:t>res</a:t>
            </a:r>
            <a:r>
              <a:rPr lang="es" sz="950">
                <a:solidFill>
                  <a:srgbClr val="D4D4D4"/>
                </a:solidFill>
                <a:highlight>
                  <a:srgbClr val="1E1E1E"/>
                </a:highlight>
                <a:latin typeface="Courier New"/>
                <a:ea typeface="Courier New"/>
                <a:cs typeface="Courier New"/>
                <a:sym typeface="Courier New"/>
              </a:rPr>
              <a:t>, </a:t>
            </a:r>
            <a:r>
              <a:rPr lang="es" sz="950">
                <a:solidFill>
                  <a:srgbClr val="9CDCFE"/>
                </a:solidFill>
                <a:highlight>
                  <a:srgbClr val="1E1E1E"/>
                </a:highlight>
                <a:latin typeface="Courier New"/>
                <a:ea typeface="Courier New"/>
                <a:cs typeface="Courier New"/>
                <a:sym typeface="Courier New"/>
              </a:rPr>
              <a:t>next</a:t>
            </a:r>
            <a:r>
              <a:rPr lang="es" sz="950">
                <a:solidFill>
                  <a:srgbClr val="D4D4D4"/>
                </a:solidFill>
                <a:highlight>
                  <a:srgbClr val="1E1E1E"/>
                </a:highlight>
                <a:latin typeface="Courier New"/>
                <a:ea typeface="Courier New"/>
                <a:cs typeface="Courier New"/>
                <a:sym typeface="Courier New"/>
              </a:rPr>
              <a:t>) {</a:t>
            </a:r>
            <a:endParaRPr sz="9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50">
                <a:solidFill>
                  <a:srgbClr val="D4D4D4"/>
                </a:solidFill>
                <a:highlight>
                  <a:srgbClr val="1E1E1E"/>
                </a:highlight>
                <a:latin typeface="Courier New"/>
                <a:ea typeface="Courier New"/>
                <a:cs typeface="Courier New"/>
                <a:sym typeface="Courier New"/>
              </a:rPr>
              <a:t>  </a:t>
            </a:r>
            <a:r>
              <a:rPr lang="es" sz="950">
                <a:solidFill>
                  <a:srgbClr val="9CDCFE"/>
                </a:solidFill>
                <a:highlight>
                  <a:srgbClr val="1E1E1E"/>
                </a:highlight>
                <a:latin typeface="Courier New"/>
                <a:ea typeface="Courier New"/>
                <a:cs typeface="Courier New"/>
                <a:sym typeface="Courier New"/>
              </a:rPr>
              <a:t>console</a:t>
            </a:r>
            <a:r>
              <a:rPr lang="es" sz="950">
                <a:solidFill>
                  <a:srgbClr val="D4D4D4"/>
                </a:solidFill>
                <a:highlight>
                  <a:srgbClr val="1E1E1E"/>
                </a:highlight>
                <a:latin typeface="Courier New"/>
                <a:ea typeface="Courier New"/>
                <a:cs typeface="Courier New"/>
                <a:sym typeface="Courier New"/>
              </a:rPr>
              <a:t>.</a:t>
            </a:r>
            <a:r>
              <a:rPr lang="es" sz="950">
                <a:solidFill>
                  <a:srgbClr val="DCDCAA"/>
                </a:solidFill>
                <a:highlight>
                  <a:srgbClr val="1E1E1E"/>
                </a:highlight>
                <a:latin typeface="Courier New"/>
                <a:ea typeface="Courier New"/>
                <a:cs typeface="Courier New"/>
                <a:sym typeface="Courier New"/>
              </a:rPr>
              <a:t>log</a:t>
            </a:r>
            <a:r>
              <a:rPr lang="es" sz="950">
                <a:solidFill>
                  <a:srgbClr val="D4D4D4"/>
                </a:solidFill>
                <a:highlight>
                  <a:srgbClr val="1E1E1E"/>
                </a:highlight>
                <a:latin typeface="Courier New"/>
                <a:ea typeface="Courier New"/>
                <a:cs typeface="Courier New"/>
                <a:sym typeface="Courier New"/>
              </a:rPr>
              <a:t>(</a:t>
            </a:r>
            <a:r>
              <a:rPr lang="es" sz="950">
                <a:solidFill>
                  <a:srgbClr val="CE9178"/>
                </a:solidFill>
                <a:highlight>
                  <a:srgbClr val="1E1E1E"/>
                </a:highlight>
                <a:latin typeface="Courier New"/>
                <a:ea typeface="Courier New"/>
                <a:cs typeface="Courier New"/>
                <a:sym typeface="Courier New"/>
              </a:rPr>
              <a:t>'Time:'</a:t>
            </a:r>
            <a:r>
              <a:rPr lang="es" sz="950">
                <a:solidFill>
                  <a:srgbClr val="D4D4D4"/>
                </a:solidFill>
                <a:highlight>
                  <a:srgbClr val="1E1E1E"/>
                </a:highlight>
                <a:latin typeface="Courier New"/>
                <a:ea typeface="Courier New"/>
                <a:cs typeface="Courier New"/>
                <a:sym typeface="Courier New"/>
              </a:rPr>
              <a:t>, </a:t>
            </a:r>
            <a:r>
              <a:rPr lang="es" sz="950">
                <a:solidFill>
                  <a:srgbClr val="4EC9B0"/>
                </a:solidFill>
                <a:highlight>
                  <a:srgbClr val="1E1E1E"/>
                </a:highlight>
                <a:latin typeface="Courier New"/>
                <a:ea typeface="Courier New"/>
                <a:cs typeface="Courier New"/>
                <a:sym typeface="Courier New"/>
              </a:rPr>
              <a:t>Date</a:t>
            </a:r>
            <a:r>
              <a:rPr lang="es" sz="950">
                <a:solidFill>
                  <a:srgbClr val="D4D4D4"/>
                </a:solidFill>
                <a:highlight>
                  <a:srgbClr val="1E1E1E"/>
                </a:highlight>
                <a:latin typeface="Courier New"/>
                <a:ea typeface="Courier New"/>
                <a:cs typeface="Courier New"/>
                <a:sym typeface="Courier New"/>
              </a:rPr>
              <a:t>.</a:t>
            </a:r>
            <a:r>
              <a:rPr lang="es" sz="950">
                <a:solidFill>
                  <a:srgbClr val="DCDCAA"/>
                </a:solidFill>
                <a:highlight>
                  <a:srgbClr val="1E1E1E"/>
                </a:highlight>
                <a:latin typeface="Courier New"/>
                <a:ea typeface="Courier New"/>
                <a:cs typeface="Courier New"/>
                <a:sym typeface="Courier New"/>
              </a:rPr>
              <a:t>now</a:t>
            </a:r>
            <a:r>
              <a:rPr lang="es" sz="950">
                <a:solidFill>
                  <a:srgbClr val="D4D4D4"/>
                </a:solidFill>
                <a:highlight>
                  <a:srgbClr val="1E1E1E"/>
                </a:highlight>
                <a:latin typeface="Courier New"/>
                <a:ea typeface="Courier New"/>
                <a:cs typeface="Courier New"/>
                <a:sym typeface="Courier New"/>
              </a:rPr>
              <a:t>());</a:t>
            </a:r>
            <a:endParaRPr sz="9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950">
                <a:solidFill>
                  <a:srgbClr val="D4D4D4"/>
                </a:solidFill>
                <a:highlight>
                  <a:srgbClr val="1E1E1E"/>
                </a:highlight>
                <a:latin typeface="Courier New"/>
                <a:ea typeface="Courier New"/>
                <a:cs typeface="Courier New"/>
                <a:sym typeface="Courier New"/>
              </a:rPr>
              <a:t>  </a:t>
            </a:r>
            <a:r>
              <a:rPr lang="es" sz="950">
                <a:solidFill>
                  <a:srgbClr val="DCDCAA"/>
                </a:solidFill>
                <a:highlight>
                  <a:srgbClr val="1E1E1E"/>
                </a:highlight>
                <a:latin typeface="Courier New"/>
                <a:ea typeface="Courier New"/>
                <a:cs typeface="Courier New"/>
                <a:sym typeface="Courier New"/>
              </a:rPr>
              <a:t>next</a:t>
            </a:r>
            <a:r>
              <a:rPr lang="es" sz="950">
                <a:solidFill>
                  <a:srgbClr val="D4D4D4"/>
                </a:solidFill>
                <a:highlight>
                  <a:srgbClr val="1E1E1E"/>
                </a:highlight>
                <a:latin typeface="Courier New"/>
                <a:ea typeface="Courier New"/>
                <a:cs typeface="Courier New"/>
                <a:sym typeface="Courier New"/>
              </a:rPr>
              <a:t>();</a:t>
            </a:r>
            <a:endParaRPr sz="9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 sz="950">
                <a:solidFill>
                  <a:srgbClr val="D4D4D4"/>
                </a:solidFill>
                <a:highlight>
                  <a:srgbClr val="1E1E1E"/>
                </a:highlight>
                <a:latin typeface="Courier New"/>
                <a:ea typeface="Courier New"/>
                <a:cs typeface="Courier New"/>
                <a:sym typeface="Courier New"/>
              </a:rPr>
              <a:t>});</a:t>
            </a:r>
            <a:endParaRPr sz="1500">
              <a:solidFill>
                <a:srgbClr val="0077AA"/>
              </a:solidFill>
              <a:highlight>
                <a:srgbClr val="F7F7F7"/>
              </a:highlight>
              <a:latin typeface="Courier New"/>
              <a:ea typeface="Courier New"/>
              <a:cs typeface="Courier New"/>
              <a:sym typeface="Courier New"/>
            </a:endParaRPr>
          </a:p>
        </p:txBody>
      </p:sp>
    </p:spTree>
    <p:extLst>
      <p:ext uri="{BB962C8B-B14F-4D97-AF65-F5344CB8AC3E}">
        <p14:creationId xmlns:p14="http://schemas.microsoft.com/office/powerpoint/2010/main" val="2085146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2341-22BB-B05C-8B1F-28688DA7704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0EB5BE7-11E5-654D-E92D-B845CFF2E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12;p130">
            <a:extLst>
              <a:ext uri="{FF2B5EF4-FFF2-40B4-BE49-F238E27FC236}">
                <a16:creationId xmlns:a16="http://schemas.microsoft.com/office/drawing/2014/main" id="{FBC8A6E9-2059-61B6-EE0F-B6827118498A}"/>
              </a:ext>
            </a:extLst>
          </p:cNvPr>
          <p:cNvSpPr txBox="1"/>
          <p:nvPr/>
        </p:nvSpPr>
        <p:spPr>
          <a:xfrm>
            <a:off x="2668663" y="1242619"/>
            <a:ext cx="6221400" cy="11544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s" sz="3500" b="1" dirty="0">
                <a:solidFill>
                  <a:schemeClr val="lt1"/>
                </a:solidFill>
                <a:latin typeface="DM Sans"/>
                <a:ea typeface="DM Sans"/>
                <a:cs typeface="DM Sans"/>
                <a:sym typeface="DM Sans"/>
              </a:rPr>
              <a:t>Middleware de manejo de errores</a:t>
            </a:r>
            <a:endParaRPr sz="3500" b="1" dirty="0">
              <a:solidFill>
                <a:schemeClr val="lt1"/>
              </a:solidFill>
              <a:latin typeface="DM Sans"/>
              <a:ea typeface="DM Sans"/>
              <a:cs typeface="DM Sans"/>
              <a:sym typeface="DM Sans"/>
            </a:endParaRPr>
          </a:p>
        </p:txBody>
      </p:sp>
      <p:sp>
        <p:nvSpPr>
          <p:cNvPr id="3" name="Google Shape;613;p130">
            <a:extLst>
              <a:ext uri="{FF2B5EF4-FFF2-40B4-BE49-F238E27FC236}">
                <a16:creationId xmlns:a16="http://schemas.microsoft.com/office/drawing/2014/main" id="{A59C61D3-1667-9520-FEA4-EC29384B3903}"/>
              </a:ext>
            </a:extLst>
          </p:cNvPr>
          <p:cNvSpPr txBox="1"/>
          <p:nvPr/>
        </p:nvSpPr>
        <p:spPr>
          <a:xfrm>
            <a:off x="1963988" y="2627544"/>
            <a:ext cx="74133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dirty="0">
                <a:solidFill>
                  <a:schemeClr val="bg1"/>
                </a:solidFill>
                <a:latin typeface="DM Sans"/>
                <a:ea typeface="DM Sans"/>
                <a:cs typeface="DM Sans"/>
                <a:sym typeface="DM Sans"/>
              </a:rPr>
              <a:t>Estas funciones se definen de la misma forma que otras funciones de middleware, excepto que llevan cuatro argumentos en lugar de tres, específicamente con la firma (err, req, res, next):</a:t>
            </a:r>
            <a:endParaRPr sz="1350" dirty="0">
              <a:solidFill>
                <a:schemeClr val="bg1"/>
              </a:solidFill>
              <a:latin typeface="DM Sans"/>
              <a:ea typeface="DM Sans"/>
              <a:cs typeface="DM Sans"/>
              <a:sym typeface="DM Sans"/>
            </a:endParaRPr>
          </a:p>
        </p:txBody>
      </p:sp>
      <p:sp>
        <p:nvSpPr>
          <p:cNvPr id="4" name="Google Shape;614;p130">
            <a:extLst>
              <a:ext uri="{FF2B5EF4-FFF2-40B4-BE49-F238E27FC236}">
                <a16:creationId xmlns:a16="http://schemas.microsoft.com/office/drawing/2014/main" id="{507C258D-77A9-52F3-75F3-8B5C5296CF08}"/>
              </a:ext>
            </a:extLst>
          </p:cNvPr>
          <p:cNvSpPr txBox="1"/>
          <p:nvPr/>
        </p:nvSpPr>
        <p:spPr>
          <a:xfrm>
            <a:off x="2844763" y="3716044"/>
            <a:ext cx="5869200" cy="1309500"/>
          </a:xfrm>
          <a:prstGeom prst="rect">
            <a:avLst/>
          </a:prstGeom>
          <a:solidFill>
            <a:srgbClr val="1E1E1E"/>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Clr>
                <a:schemeClr val="dk1"/>
              </a:buClr>
              <a:buSzPts val="1100"/>
              <a:buFont typeface="Arial"/>
              <a:buNone/>
            </a:pPr>
            <a:r>
              <a:rPr lang="es" sz="1050">
                <a:solidFill>
                  <a:srgbClr val="9CDCFE"/>
                </a:solidFill>
                <a:highlight>
                  <a:srgbClr val="1E1E1E"/>
                </a:highlight>
                <a:latin typeface="Courier New"/>
                <a:ea typeface="Courier New"/>
                <a:cs typeface="Courier New"/>
                <a:sym typeface="Courier New"/>
              </a:rPr>
              <a:t>app</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use</a:t>
            </a:r>
            <a:r>
              <a:rPr lang="es" sz="1050">
                <a:solidFill>
                  <a:srgbClr val="D4D4D4"/>
                </a:solidFill>
                <a:highlight>
                  <a:srgbClr val="1E1E1E"/>
                </a:highlight>
                <a:latin typeface="Courier New"/>
                <a:ea typeface="Courier New"/>
                <a:cs typeface="Courier New"/>
                <a:sym typeface="Courier New"/>
              </a:rPr>
              <a:t>(</a:t>
            </a:r>
            <a:r>
              <a:rPr lang="es" sz="1050">
                <a:solidFill>
                  <a:srgbClr val="569CD6"/>
                </a:solidFill>
                <a:highlight>
                  <a:srgbClr val="1E1E1E"/>
                </a:highlight>
                <a:latin typeface="Courier New"/>
                <a:ea typeface="Courier New"/>
                <a:cs typeface="Courier New"/>
                <a:sym typeface="Courier New"/>
              </a:rPr>
              <a:t>function</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err</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req</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res</a:t>
            </a: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next</a:t>
            </a:r>
            <a:r>
              <a:rPr lang="es" sz="1050">
                <a:solidFill>
                  <a:srgbClr val="D4D4D4"/>
                </a:solidFill>
                <a:highlight>
                  <a:srgbClr val="1E1E1E"/>
                </a:highlight>
                <a:latin typeface="Courier New"/>
                <a:ea typeface="Courier New"/>
                <a:cs typeface="Courier New"/>
                <a:sym typeface="Courier New"/>
              </a:rPr>
              <a:t>) {</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console</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error</a:t>
            </a:r>
            <a:r>
              <a:rPr lang="es" sz="1050">
                <a:solidFill>
                  <a:srgbClr val="D4D4D4"/>
                </a:solidFill>
                <a:highlight>
                  <a:srgbClr val="1E1E1E"/>
                </a:highlight>
                <a:latin typeface="Courier New"/>
                <a:ea typeface="Courier New"/>
                <a:cs typeface="Courier New"/>
                <a:sym typeface="Courier New"/>
              </a:rPr>
              <a:t>(</a:t>
            </a:r>
            <a:r>
              <a:rPr lang="es" sz="1050">
                <a:solidFill>
                  <a:srgbClr val="9CDCFE"/>
                </a:solidFill>
                <a:highlight>
                  <a:srgbClr val="1E1E1E"/>
                </a:highlight>
                <a:latin typeface="Courier New"/>
                <a:ea typeface="Courier New"/>
                <a:cs typeface="Courier New"/>
                <a:sym typeface="Courier New"/>
              </a:rPr>
              <a:t>err</a:t>
            </a:r>
            <a:r>
              <a:rPr lang="es" sz="1050">
                <a:solidFill>
                  <a:srgbClr val="D4D4D4"/>
                </a:solidFill>
                <a:highlight>
                  <a:srgbClr val="1E1E1E"/>
                </a:highlight>
                <a:latin typeface="Courier New"/>
                <a:ea typeface="Courier New"/>
                <a:cs typeface="Courier New"/>
                <a:sym typeface="Courier New"/>
              </a:rPr>
              <a:t>.</a:t>
            </a:r>
            <a:r>
              <a:rPr lang="es" sz="1050">
                <a:solidFill>
                  <a:srgbClr val="9CDCFE"/>
                </a:solidFill>
                <a:highlight>
                  <a:srgbClr val="1E1E1E"/>
                </a:highlight>
                <a:latin typeface="Courier New"/>
                <a:ea typeface="Courier New"/>
                <a:cs typeface="Courier New"/>
                <a:sym typeface="Courier New"/>
              </a:rPr>
              <a:t>stack</a:t>
            </a:r>
            <a:r>
              <a:rPr lang="es" sz="1050">
                <a:solidFill>
                  <a:srgbClr val="D4D4D4"/>
                </a:solidFill>
                <a:highlight>
                  <a:srgbClr val="1E1E1E"/>
                </a:highlight>
                <a:latin typeface="Courier New"/>
                <a:ea typeface="Courier New"/>
                <a:cs typeface="Courier New"/>
                <a:sym typeface="Courier New"/>
              </a:rPr>
              <a:t>);</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s" sz="1050">
                <a:solidFill>
                  <a:srgbClr val="D4D4D4"/>
                </a:solidFill>
                <a:highlight>
                  <a:srgbClr val="1E1E1E"/>
                </a:highlight>
                <a:latin typeface="Courier New"/>
                <a:ea typeface="Courier New"/>
                <a:cs typeface="Courier New"/>
                <a:sym typeface="Courier New"/>
              </a:rPr>
              <a:t>  </a:t>
            </a:r>
            <a:r>
              <a:rPr lang="es" sz="1050">
                <a:solidFill>
                  <a:srgbClr val="9CDCFE"/>
                </a:solidFill>
                <a:highlight>
                  <a:srgbClr val="1E1E1E"/>
                </a:highlight>
                <a:latin typeface="Courier New"/>
                <a:ea typeface="Courier New"/>
                <a:cs typeface="Courier New"/>
                <a:sym typeface="Courier New"/>
              </a:rPr>
              <a:t>res</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status</a:t>
            </a:r>
            <a:r>
              <a:rPr lang="es" sz="1050">
                <a:solidFill>
                  <a:srgbClr val="D4D4D4"/>
                </a:solidFill>
                <a:highlight>
                  <a:srgbClr val="1E1E1E"/>
                </a:highlight>
                <a:latin typeface="Courier New"/>
                <a:ea typeface="Courier New"/>
                <a:cs typeface="Courier New"/>
                <a:sym typeface="Courier New"/>
              </a:rPr>
              <a:t>(</a:t>
            </a:r>
            <a:r>
              <a:rPr lang="es" sz="1050">
                <a:solidFill>
                  <a:srgbClr val="B5CEA8"/>
                </a:solidFill>
                <a:highlight>
                  <a:srgbClr val="1E1E1E"/>
                </a:highlight>
                <a:latin typeface="Courier New"/>
                <a:ea typeface="Courier New"/>
                <a:cs typeface="Courier New"/>
                <a:sym typeface="Courier New"/>
              </a:rPr>
              <a:t>500</a:t>
            </a:r>
            <a:r>
              <a:rPr lang="es" sz="1050">
                <a:solidFill>
                  <a:srgbClr val="D4D4D4"/>
                </a:solidFill>
                <a:highlight>
                  <a:srgbClr val="1E1E1E"/>
                </a:highlight>
                <a:latin typeface="Courier New"/>
                <a:ea typeface="Courier New"/>
                <a:cs typeface="Courier New"/>
                <a:sym typeface="Courier New"/>
              </a:rPr>
              <a:t>).</a:t>
            </a:r>
            <a:r>
              <a:rPr lang="es" sz="1050">
                <a:solidFill>
                  <a:srgbClr val="DCDCAA"/>
                </a:solidFill>
                <a:highlight>
                  <a:srgbClr val="1E1E1E"/>
                </a:highlight>
                <a:latin typeface="Courier New"/>
                <a:ea typeface="Courier New"/>
                <a:cs typeface="Courier New"/>
                <a:sym typeface="Courier New"/>
              </a:rPr>
              <a:t>send</a:t>
            </a:r>
            <a:r>
              <a:rPr lang="es" sz="1050">
                <a:solidFill>
                  <a:srgbClr val="D4D4D4"/>
                </a:solidFill>
                <a:highlight>
                  <a:srgbClr val="1E1E1E"/>
                </a:highlight>
                <a:latin typeface="Courier New"/>
                <a:ea typeface="Courier New"/>
                <a:cs typeface="Courier New"/>
                <a:sym typeface="Courier New"/>
              </a:rPr>
              <a:t>(</a:t>
            </a:r>
            <a:r>
              <a:rPr lang="es" sz="1050">
                <a:solidFill>
                  <a:srgbClr val="CE9178"/>
                </a:solidFill>
                <a:highlight>
                  <a:srgbClr val="1E1E1E"/>
                </a:highlight>
                <a:latin typeface="Courier New"/>
                <a:ea typeface="Courier New"/>
                <a:cs typeface="Courier New"/>
                <a:sym typeface="Courier New"/>
              </a:rPr>
              <a:t>'Something broke!'</a:t>
            </a:r>
            <a:r>
              <a:rPr lang="es" sz="1050">
                <a:solidFill>
                  <a:srgbClr val="D4D4D4"/>
                </a:solidFill>
                <a:highlight>
                  <a:srgbClr val="1E1E1E"/>
                </a:highlight>
                <a:latin typeface="Courier New"/>
                <a:ea typeface="Courier New"/>
                <a:cs typeface="Courier New"/>
                <a:sym typeface="Courier New"/>
              </a:rPr>
              <a:t>);</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highlight>
                  <a:srgbClr val="1E1E1E"/>
                </a:highlight>
                <a:latin typeface="Courier New"/>
                <a:ea typeface="Courier New"/>
                <a:cs typeface="Courier New"/>
                <a:sym typeface="Courier New"/>
              </a:rPr>
              <a:t>});</a:t>
            </a:r>
            <a:endParaRPr sz="1600">
              <a:solidFill>
                <a:schemeClr val="dk1"/>
              </a:solidFill>
              <a:highlight>
                <a:srgbClr val="F7F7F7"/>
              </a:highlight>
              <a:latin typeface="Courier New"/>
              <a:ea typeface="Courier New"/>
              <a:cs typeface="Courier New"/>
              <a:sym typeface="Courier New"/>
            </a:endParaRPr>
          </a:p>
        </p:txBody>
      </p:sp>
    </p:spTree>
    <p:extLst>
      <p:ext uri="{BB962C8B-B14F-4D97-AF65-F5344CB8AC3E}">
        <p14:creationId xmlns:p14="http://schemas.microsoft.com/office/powerpoint/2010/main" val="1749018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C9E9D-BB4E-6DDB-E134-566FE004D29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7803A55-617F-7CB5-831B-BC5E0F88C8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20;p131">
            <a:extLst>
              <a:ext uri="{FF2B5EF4-FFF2-40B4-BE49-F238E27FC236}">
                <a16:creationId xmlns:a16="http://schemas.microsoft.com/office/drawing/2014/main" id="{FAE84D03-45FA-9256-EFB4-30250B3AC4D6}"/>
              </a:ext>
            </a:extLst>
          </p:cNvPr>
          <p:cNvSpPr txBox="1"/>
          <p:nvPr/>
        </p:nvSpPr>
        <p:spPr>
          <a:xfrm>
            <a:off x="3050403" y="1748647"/>
            <a:ext cx="6221400" cy="6696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s" sz="3500" b="1" dirty="0">
                <a:solidFill>
                  <a:schemeClr val="bg1"/>
                </a:solidFill>
                <a:latin typeface="DM Sans"/>
                <a:ea typeface="DM Sans"/>
                <a:cs typeface="DM Sans"/>
                <a:sym typeface="DM Sans"/>
              </a:rPr>
              <a:t>Middleware incorporado</a:t>
            </a:r>
            <a:endParaRPr sz="3500" b="1" dirty="0">
              <a:solidFill>
                <a:schemeClr val="bg1"/>
              </a:solidFill>
              <a:latin typeface="DM Sans"/>
              <a:ea typeface="DM Sans"/>
              <a:cs typeface="DM Sans"/>
              <a:sym typeface="DM Sans"/>
            </a:endParaRPr>
          </a:p>
        </p:txBody>
      </p:sp>
      <p:sp>
        <p:nvSpPr>
          <p:cNvPr id="3" name="Google Shape;621;p131">
            <a:extLst>
              <a:ext uri="{FF2B5EF4-FFF2-40B4-BE49-F238E27FC236}">
                <a16:creationId xmlns:a16="http://schemas.microsoft.com/office/drawing/2014/main" id="{7B7C5C69-B262-BF10-F8B3-407504A6D067}"/>
              </a:ext>
            </a:extLst>
          </p:cNvPr>
          <p:cNvSpPr txBox="1"/>
          <p:nvPr/>
        </p:nvSpPr>
        <p:spPr>
          <a:xfrm>
            <a:off x="2366703" y="2554397"/>
            <a:ext cx="7536000" cy="2661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s" sz="1350">
                <a:solidFill>
                  <a:schemeClr val="bg1"/>
                </a:solidFill>
                <a:latin typeface="DM Sans"/>
                <a:ea typeface="DM Sans"/>
                <a:cs typeface="DM Sans"/>
                <a:sym typeface="DM Sans"/>
              </a:rPr>
              <a:t>La única función de middleware incorporado en Express es express.static. Esta función es responsable del servicio de archivos estáticos:</a:t>
            </a:r>
            <a:endParaRPr sz="1350">
              <a:solidFill>
                <a:schemeClr val="bg1"/>
              </a:solidFill>
              <a:latin typeface="DM Sans"/>
              <a:ea typeface="DM Sans"/>
              <a:cs typeface="DM Sans"/>
              <a:sym typeface="DM Sans"/>
            </a:endParaRPr>
          </a:p>
          <a:p>
            <a:pPr marL="457200" lvl="0" indent="0" algn="l" rtl="0">
              <a:lnSpc>
                <a:spcPct val="115000"/>
              </a:lnSpc>
              <a:spcBef>
                <a:spcPts val="0"/>
              </a:spcBef>
              <a:spcAft>
                <a:spcPts val="0"/>
              </a:spcAft>
              <a:buNone/>
            </a:pPr>
            <a:endParaRPr sz="1350">
              <a:solidFill>
                <a:schemeClr val="bg1"/>
              </a:solidFill>
              <a:latin typeface="DM Sans"/>
              <a:ea typeface="DM Sans"/>
              <a:cs typeface="DM Sans"/>
              <a:sym typeface="DM Sans"/>
            </a:endParaRPr>
          </a:p>
          <a:p>
            <a:pPr marL="457200" lvl="0" indent="0" algn="l" rtl="0">
              <a:lnSpc>
                <a:spcPct val="115000"/>
              </a:lnSpc>
              <a:spcBef>
                <a:spcPts val="0"/>
              </a:spcBef>
              <a:spcAft>
                <a:spcPts val="0"/>
              </a:spcAft>
              <a:buNone/>
            </a:pPr>
            <a:endParaRPr sz="1350" b="1" i="1">
              <a:solidFill>
                <a:schemeClr val="bg1"/>
              </a:solidFill>
              <a:latin typeface="DM Sans"/>
              <a:ea typeface="DM Sans"/>
              <a:cs typeface="DM Sans"/>
              <a:sym typeface="DM Sans"/>
            </a:endParaRPr>
          </a:p>
          <a:p>
            <a:pPr marL="457200" lvl="0" indent="-314325" algn="l" rtl="0">
              <a:lnSpc>
                <a:spcPct val="115000"/>
              </a:lnSpc>
              <a:spcBef>
                <a:spcPts val="0"/>
              </a:spcBef>
              <a:spcAft>
                <a:spcPts val="0"/>
              </a:spcAft>
              <a:buClr>
                <a:schemeClr val="accent4"/>
              </a:buClr>
              <a:buSzPts val="1350"/>
              <a:buFont typeface="DM Sans"/>
              <a:buChar char="✓"/>
            </a:pPr>
            <a:r>
              <a:rPr lang="es" sz="1350" b="1">
                <a:solidFill>
                  <a:schemeClr val="bg1"/>
                </a:solidFill>
                <a:latin typeface="DM Sans"/>
                <a:ea typeface="DM Sans"/>
                <a:cs typeface="DM Sans"/>
                <a:sym typeface="DM Sans"/>
              </a:rPr>
              <a:t>express.static(root, [options])</a:t>
            </a:r>
            <a:endParaRPr sz="1350" b="1">
              <a:solidFill>
                <a:schemeClr val="bg1"/>
              </a:solidFill>
              <a:latin typeface="DM Sans"/>
              <a:ea typeface="DM Sans"/>
              <a:cs typeface="DM Sans"/>
              <a:sym typeface="DM Sans"/>
            </a:endParaRPr>
          </a:p>
          <a:p>
            <a:pPr marL="914400" lvl="1" indent="-314325" algn="l" rtl="0">
              <a:lnSpc>
                <a:spcPct val="115000"/>
              </a:lnSpc>
              <a:spcBef>
                <a:spcPts val="0"/>
              </a:spcBef>
              <a:spcAft>
                <a:spcPts val="0"/>
              </a:spcAft>
              <a:buSzPts val="1350"/>
              <a:buFont typeface="Helvetica Neue Light"/>
              <a:buChar char="○"/>
            </a:pPr>
            <a:r>
              <a:rPr lang="es" sz="1350">
                <a:solidFill>
                  <a:schemeClr val="bg1"/>
                </a:solidFill>
                <a:latin typeface="DM Sans"/>
                <a:ea typeface="DM Sans"/>
                <a:cs typeface="DM Sans"/>
                <a:sym typeface="DM Sans"/>
              </a:rPr>
              <a:t>El </a:t>
            </a:r>
            <a:r>
              <a:rPr lang="es" sz="1350" b="1">
                <a:solidFill>
                  <a:schemeClr val="bg1"/>
                </a:solidFill>
                <a:latin typeface="DM Sans"/>
                <a:ea typeface="DM Sans"/>
                <a:cs typeface="DM Sans"/>
                <a:sym typeface="DM Sans"/>
              </a:rPr>
              <a:t>argumento root</a:t>
            </a:r>
            <a:r>
              <a:rPr lang="es" sz="1350">
                <a:solidFill>
                  <a:schemeClr val="bg1"/>
                </a:solidFill>
                <a:latin typeface="DM Sans"/>
                <a:ea typeface="DM Sans"/>
                <a:cs typeface="DM Sans"/>
                <a:sym typeface="DM Sans"/>
              </a:rPr>
              <a:t> especifica el directorio raíz desde el que se realiza el servicio de activos estáticos.</a:t>
            </a:r>
            <a:endParaRPr sz="1350">
              <a:solidFill>
                <a:schemeClr val="bg1"/>
              </a:solidFill>
              <a:latin typeface="DM Sans"/>
              <a:ea typeface="DM Sans"/>
              <a:cs typeface="DM Sans"/>
              <a:sym typeface="DM Sans"/>
            </a:endParaRPr>
          </a:p>
          <a:p>
            <a:pPr marL="914400" lvl="1" indent="-314325" algn="l" rtl="0">
              <a:lnSpc>
                <a:spcPct val="115000"/>
              </a:lnSpc>
              <a:spcBef>
                <a:spcPts val="0"/>
              </a:spcBef>
              <a:spcAft>
                <a:spcPts val="0"/>
              </a:spcAft>
              <a:buSzPts val="1350"/>
              <a:buFont typeface="Helvetica Neue Light"/>
              <a:buChar char="○"/>
            </a:pPr>
            <a:r>
              <a:rPr lang="es" sz="1350">
                <a:solidFill>
                  <a:schemeClr val="bg1"/>
                </a:solidFill>
                <a:latin typeface="DM Sans"/>
                <a:ea typeface="DM Sans"/>
                <a:cs typeface="DM Sans"/>
                <a:sym typeface="DM Sans"/>
              </a:rPr>
              <a:t>El </a:t>
            </a:r>
            <a:r>
              <a:rPr lang="es" sz="1350" b="1">
                <a:solidFill>
                  <a:schemeClr val="bg1"/>
                </a:solidFill>
                <a:latin typeface="DM Sans"/>
                <a:ea typeface="DM Sans"/>
                <a:cs typeface="DM Sans"/>
                <a:sym typeface="DM Sans"/>
              </a:rPr>
              <a:t>objeto options</a:t>
            </a:r>
            <a:r>
              <a:rPr lang="es" sz="1350">
                <a:solidFill>
                  <a:schemeClr val="bg1"/>
                </a:solidFill>
                <a:latin typeface="DM Sans"/>
                <a:ea typeface="DM Sans"/>
                <a:cs typeface="DM Sans"/>
                <a:sym typeface="DM Sans"/>
              </a:rPr>
              <a:t> opcional puede tener las siguientes propiedades: dotfiles, etag, extensions, index, lastModified, maxAge, redirect, setHeaders</a:t>
            </a:r>
            <a:endParaRPr sz="135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1689162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0134-B3AE-8B38-1416-3760749AB1B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FD936C4-F9BD-59F6-FAA5-10E932952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28;p132">
            <a:extLst>
              <a:ext uri="{FF2B5EF4-FFF2-40B4-BE49-F238E27FC236}">
                <a16:creationId xmlns:a16="http://schemas.microsoft.com/office/drawing/2014/main" id="{79163530-30D3-76E9-1564-B29F18BE0A55}"/>
              </a:ext>
            </a:extLst>
          </p:cNvPr>
          <p:cNvSpPr txBox="1"/>
          <p:nvPr/>
        </p:nvSpPr>
        <p:spPr>
          <a:xfrm>
            <a:off x="2597642" y="1171598"/>
            <a:ext cx="6221400" cy="669600"/>
          </a:xfrm>
          <a:prstGeom prst="rect">
            <a:avLst/>
          </a:prstGeom>
          <a:noFill/>
          <a:ln>
            <a:noFill/>
          </a:ln>
        </p:spPr>
        <p:txBody>
          <a:bodyPr spcFirstLastPara="1" wrap="square" lIns="91425" tIns="91425" rIns="91425" bIns="91425" anchor="t" anchorCtr="0">
            <a:spAutoFit/>
          </a:bodyPr>
          <a:lstStyle/>
          <a:p>
            <a:pPr marL="457200" lvl="0" indent="0" algn="ctr" rtl="0">
              <a:lnSpc>
                <a:spcPct val="90000"/>
              </a:lnSpc>
              <a:spcBef>
                <a:spcPts val="0"/>
              </a:spcBef>
              <a:spcAft>
                <a:spcPts val="0"/>
              </a:spcAft>
              <a:buNone/>
            </a:pPr>
            <a:r>
              <a:rPr lang="es" sz="3500" b="1" dirty="0">
                <a:solidFill>
                  <a:schemeClr val="lt1"/>
                </a:solidFill>
                <a:latin typeface="DM Sans"/>
                <a:ea typeface="DM Sans"/>
                <a:cs typeface="DM Sans"/>
                <a:sym typeface="DM Sans"/>
              </a:rPr>
              <a:t>Middleware de terceros</a:t>
            </a:r>
            <a:endParaRPr sz="3500" b="1" dirty="0">
              <a:solidFill>
                <a:schemeClr val="lt1"/>
              </a:solidFill>
              <a:latin typeface="DM Sans"/>
              <a:ea typeface="DM Sans"/>
              <a:cs typeface="DM Sans"/>
              <a:sym typeface="DM Sans"/>
            </a:endParaRPr>
          </a:p>
        </p:txBody>
      </p:sp>
      <p:sp>
        <p:nvSpPr>
          <p:cNvPr id="3" name="Google Shape;629;p132">
            <a:extLst>
              <a:ext uri="{FF2B5EF4-FFF2-40B4-BE49-F238E27FC236}">
                <a16:creationId xmlns:a16="http://schemas.microsoft.com/office/drawing/2014/main" id="{868E3216-4353-E0EB-11C2-72209384B8EA}"/>
              </a:ext>
            </a:extLst>
          </p:cNvPr>
          <p:cNvSpPr txBox="1"/>
          <p:nvPr/>
        </p:nvSpPr>
        <p:spPr>
          <a:xfrm>
            <a:off x="1913942" y="1977348"/>
            <a:ext cx="7536000" cy="1064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s" sz="1350" dirty="0">
                <a:solidFill>
                  <a:schemeClr val="bg1"/>
                </a:solidFill>
                <a:latin typeface="DM Sans"/>
                <a:ea typeface="DM Sans"/>
                <a:cs typeface="DM Sans"/>
                <a:sym typeface="DM Sans"/>
              </a:rPr>
              <a:t>Podemos instalar y utilizar middlewares de terceros para añadir funcionalidad a nuestra aplicación. El uso puede ser a nivel de aplicación o a nivel de Router. Por ejemplo, instalamos y usamos la función de middleware de análisis de cookies cookie-parser.</a:t>
            </a:r>
            <a:endParaRPr sz="1350" dirty="0">
              <a:solidFill>
                <a:schemeClr val="bg1"/>
              </a:solidFill>
              <a:latin typeface="DM Sans"/>
              <a:ea typeface="DM Sans"/>
              <a:cs typeface="DM Sans"/>
              <a:sym typeface="DM Sans"/>
            </a:endParaRPr>
          </a:p>
        </p:txBody>
      </p:sp>
      <p:sp>
        <p:nvSpPr>
          <p:cNvPr id="4" name="Google Shape;630;p132">
            <a:extLst>
              <a:ext uri="{FF2B5EF4-FFF2-40B4-BE49-F238E27FC236}">
                <a16:creationId xmlns:a16="http://schemas.microsoft.com/office/drawing/2014/main" id="{7A289220-D835-FAF6-77F2-1298CA16318D}"/>
              </a:ext>
            </a:extLst>
          </p:cNvPr>
          <p:cNvSpPr txBox="1"/>
          <p:nvPr/>
        </p:nvSpPr>
        <p:spPr>
          <a:xfrm>
            <a:off x="2565542" y="3042048"/>
            <a:ext cx="6285600" cy="227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600">
                <a:solidFill>
                  <a:srgbClr val="4FBF40"/>
                </a:solidFill>
                <a:highlight>
                  <a:srgbClr val="272727"/>
                </a:highlight>
                <a:latin typeface="Courier New"/>
                <a:ea typeface="Courier New"/>
                <a:cs typeface="Courier New"/>
                <a:sym typeface="Courier New"/>
              </a:rPr>
              <a:t>$ npm install cookie-parser</a:t>
            </a:r>
            <a:endParaRPr sz="1600">
              <a:solidFill>
                <a:srgbClr val="4FBF40"/>
              </a:solidFill>
              <a:highlight>
                <a:srgbClr val="272727"/>
              </a:highlight>
              <a:latin typeface="Courier New"/>
              <a:ea typeface="Courier New"/>
              <a:cs typeface="Courier New"/>
              <a:sym typeface="Courier New"/>
            </a:endParaRPr>
          </a:p>
          <a:p>
            <a:pPr marL="0" lvl="0" indent="0" algn="l" rtl="0">
              <a:spcBef>
                <a:spcPts val="0"/>
              </a:spcBef>
              <a:spcAft>
                <a:spcPts val="0"/>
              </a:spcAft>
              <a:buNone/>
            </a:pPr>
            <a:endParaRPr sz="1600">
              <a:solidFill>
                <a:srgbClr val="4FBF40"/>
              </a:solidFill>
              <a:highlight>
                <a:srgbClr val="272727"/>
              </a:highlight>
              <a:latin typeface="Courier New"/>
              <a:ea typeface="Courier New"/>
              <a:cs typeface="Courier New"/>
              <a:sym typeface="Courier New"/>
            </a:endParaRPr>
          </a:p>
          <a:p>
            <a:pPr marL="0" lvl="0" indent="0" algn="l" rtl="0">
              <a:spcBef>
                <a:spcPts val="0"/>
              </a:spcBef>
              <a:spcAft>
                <a:spcPts val="0"/>
              </a:spcAft>
              <a:buNone/>
            </a:pPr>
            <a:r>
              <a:rPr lang="es" sz="1600">
                <a:solidFill>
                  <a:srgbClr val="0077AA"/>
                </a:solidFill>
                <a:highlight>
                  <a:srgbClr val="F7F7F7"/>
                </a:highlight>
                <a:latin typeface="Courier New"/>
                <a:ea typeface="Courier New"/>
                <a:cs typeface="Courier New"/>
                <a:sym typeface="Courier New"/>
              </a:rPr>
              <a:t>var</a:t>
            </a:r>
            <a:r>
              <a:rPr lang="es" sz="1600">
                <a:solidFill>
                  <a:schemeClr val="dk1"/>
                </a:solidFill>
                <a:highlight>
                  <a:srgbClr val="F7F7F7"/>
                </a:highlight>
                <a:latin typeface="Courier New"/>
                <a:ea typeface="Courier New"/>
                <a:cs typeface="Courier New"/>
                <a:sym typeface="Courier New"/>
              </a:rPr>
              <a:t> express </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 </a:t>
            </a:r>
            <a:r>
              <a:rPr lang="es" sz="1600">
                <a:solidFill>
                  <a:srgbClr val="DD4A68"/>
                </a:solidFill>
                <a:highlight>
                  <a:srgbClr val="F7F7F7"/>
                </a:highlight>
                <a:latin typeface="Courier New"/>
                <a:ea typeface="Courier New"/>
                <a:cs typeface="Courier New"/>
                <a:sym typeface="Courier New"/>
              </a:rPr>
              <a:t>require</a:t>
            </a:r>
            <a:r>
              <a:rPr lang="es" sz="1600">
                <a:solidFill>
                  <a:srgbClr val="999999"/>
                </a:solidFill>
                <a:highlight>
                  <a:srgbClr val="F7F7F7"/>
                </a:highlight>
                <a:latin typeface="Courier New"/>
                <a:ea typeface="Courier New"/>
                <a:cs typeface="Courier New"/>
                <a:sym typeface="Courier New"/>
              </a:rPr>
              <a:t>(</a:t>
            </a:r>
            <a:r>
              <a:rPr lang="es" sz="1600">
                <a:solidFill>
                  <a:srgbClr val="669900"/>
                </a:solidFill>
                <a:highlight>
                  <a:srgbClr val="F7F7F7"/>
                </a:highlight>
                <a:latin typeface="Courier New"/>
                <a:ea typeface="Courier New"/>
                <a:cs typeface="Courier New"/>
                <a:sym typeface="Courier New"/>
              </a:rPr>
              <a:t>'express'</a:t>
            </a:r>
            <a:r>
              <a:rPr lang="es" sz="1600">
                <a:solidFill>
                  <a:srgbClr val="999999"/>
                </a:solidFill>
                <a:highlight>
                  <a:srgbClr val="F7F7F7"/>
                </a:highlight>
                <a:latin typeface="Courier New"/>
                <a:ea typeface="Courier New"/>
                <a:cs typeface="Courier New"/>
                <a:sym typeface="Courier New"/>
              </a:rPr>
              <a:t>);</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None/>
            </a:pPr>
            <a:r>
              <a:rPr lang="es" sz="1600">
                <a:solidFill>
                  <a:srgbClr val="0077AA"/>
                </a:solidFill>
                <a:highlight>
                  <a:srgbClr val="F7F7F7"/>
                </a:highlight>
                <a:latin typeface="Courier New"/>
                <a:ea typeface="Courier New"/>
                <a:cs typeface="Courier New"/>
                <a:sym typeface="Courier New"/>
              </a:rPr>
              <a:t>var</a:t>
            </a:r>
            <a:r>
              <a:rPr lang="es" sz="1600">
                <a:solidFill>
                  <a:schemeClr val="dk1"/>
                </a:solidFill>
                <a:highlight>
                  <a:srgbClr val="F7F7F7"/>
                </a:highlight>
                <a:latin typeface="Courier New"/>
                <a:ea typeface="Courier New"/>
                <a:cs typeface="Courier New"/>
                <a:sym typeface="Courier New"/>
              </a:rPr>
              <a:t> app </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 </a:t>
            </a:r>
            <a:r>
              <a:rPr lang="es" sz="1600">
                <a:solidFill>
                  <a:srgbClr val="DD4A68"/>
                </a:solidFill>
                <a:highlight>
                  <a:srgbClr val="F7F7F7"/>
                </a:highlight>
                <a:latin typeface="Courier New"/>
                <a:ea typeface="Courier New"/>
                <a:cs typeface="Courier New"/>
                <a:sym typeface="Courier New"/>
              </a:rPr>
              <a:t>express</a:t>
            </a:r>
            <a:r>
              <a:rPr lang="es" sz="1600">
                <a:solidFill>
                  <a:srgbClr val="999999"/>
                </a:solidFill>
                <a:highlight>
                  <a:srgbClr val="F7F7F7"/>
                </a:highlight>
                <a:latin typeface="Courier New"/>
                <a:ea typeface="Courier New"/>
                <a:cs typeface="Courier New"/>
                <a:sym typeface="Courier New"/>
              </a:rPr>
              <a:t>();</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None/>
            </a:pPr>
            <a:r>
              <a:rPr lang="es" sz="1600">
                <a:solidFill>
                  <a:srgbClr val="0077AA"/>
                </a:solidFill>
                <a:highlight>
                  <a:srgbClr val="F7F7F7"/>
                </a:highlight>
                <a:latin typeface="Courier New"/>
                <a:ea typeface="Courier New"/>
                <a:cs typeface="Courier New"/>
                <a:sym typeface="Courier New"/>
              </a:rPr>
              <a:t>var</a:t>
            </a:r>
            <a:r>
              <a:rPr lang="es" sz="1600">
                <a:solidFill>
                  <a:schemeClr val="dk1"/>
                </a:solidFill>
                <a:highlight>
                  <a:srgbClr val="F7F7F7"/>
                </a:highlight>
                <a:latin typeface="Courier New"/>
                <a:ea typeface="Courier New"/>
                <a:cs typeface="Courier New"/>
                <a:sym typeface="Courier New"/>
              </a:rPr>
              <a:t> cookieParser </a:t>
            </a:r>
            <a:r>
              <a:rPr lang="es" sz="1600">
                <a:solidFill>
                  <a:srgbClr val="A67F59"/>
                </a:solidFill>
                <a:highlight>
                  <a:srgbClr val="F7F7F7"/>
                </a:highlight>
                <a:latin typeface="Courier New"/>
                <a:ea typeface="Courier New"/>
                <a:cs typeface="Courier New"/>
                <a:sym typeface="Courier New"/>
              </a:rPr>
              <a:t>=</a:t>
            </a:r>
            <a:r>
              <a:rPr lang="es" sz="1600">
                <a:solidFill>
                  <a:schemeClr val="dk1"/>
                </a:solidFill>
                <a:highlight>
                  <a:srgbClr val="F7F7F7"/>
                </a:highlight>
                <a:latin typeface="Courier New"/>
                <a:ea typeface="Courier New"/>
                <a:cs typeface="Courier New"/>
                <a:sym typeface="Courier New"/>
              </a:rPr>
              <a:t> </a:t>
            </a:r>
            <a:r>
              <a:rPr lang="es" sz="1600">
                <a:solidFill>
                  <a:srgbClr val="DD4A68"/>
                </a:solidFill>
                <a:highlight>
                  <a:srgbClr val="F7F7F7"/>
                </a:highlight>
                <a:latin typeface="Courier New"/>
                <a:ea typeface="Courier New"/>
                <a:cs typeface="Courier New"/>
                <a:sym typeface="Courier New"/>
              </a:rPr>
              <a:t>require</a:t>
            </a:r>
            <a:r>
              <a:rPr lang="es" sz="1600">
                <a:solidFill>
                  <a:srgbClr val="999999"/>
                </a:solidFill>
                <a:highlight>
                  <a:srgbClr val="F7F7F7"/>
                </a:highlight>
                <a:latin typeface="Courier New"/>
                <a:ea typeface="Courier New"/>
                <a:cs typeface="Courier New"/>
                <a:sym typeface="Courier New"/>
              </a:rPr>
              <a:t>(</a:t>
            </a:r>
            <a:r>
              <a:rPr lang="es" sz="1600">
                <a:solidFill>
                  <a:srgbClr val="669900"/>
                </a:solidFill>
                <a:highlight>
                  <a:srgbClr val="F7F7F7"/>
                </a:highlight>
                <a:latin typeface="Courier New"/>
                <a:ea typeface="Courier New"/>
                <a:cs typeface="Courier New"/>
                <a:sym typeface="Courier New"/>
              </a:rPr>
              <a:t>'cookie-parser'</a:t>
            </a:r>
            <a:r>
              <a:rPr lang="es" sz="1600">
                <a:solidFill>
                  <a:srgbClr val="999999"/>
                </a:solidFill>
                <a:highlight>
                  <a:srgbClr val="F7F7F7"/>
                </a:highlight>
                <a:latin typeface="Courier New"/>
                <a:ea typeface="Courier New"/>
                <a:cs typeface="Courier New"/>
                <a:sym typeface="Courier New"/>
              </a:rPr>
              <a:t>);</a:t>
            </a: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None/>
            </a:pPr>
            <a:endParaRPr sz="1600">
              <a:solidFill>
                <a:schemeClr val="dk1"/>
              </a:solidFill>
              <a:highlight>
                <a:srgbClr val="F7F7F7"/>
              </a:highlight>
              <a:latin typeface="Courier New"/>
              <a:ea typeface="Courier New"/>
              <a:cs typeface="Courier New"/>
              <a:sym typeface="Courier New"/>
            </a:endParaRPr>
          </a:p>
          <a:p>
            <a:pPr marL="0" lvl="0" indent="0" algn="l" rtl="0">
              <a:spcBef>
                <a:spcPts val="0"/>
              </a:spcBef>
              <a:spcAft>
                <a:spcPts val="0"/>
              </a:spcAft>
              <a:buNone/>
            </a:pPr>
            <a:r>
              <a:rPr lang="es" sz="1600">
                <a:solidFill>
                  <a:srgbClr val="708090"/>
                </a:solidFill>
                <a:highlight>
                  <a:srgbClr val="F7F7F7"/>
                </a:highlight>
                <a:latin typeface="Courier New"/>
                <a:ea typeface="Courier New"/>
                <a:cs typeface="Courier New"/>
                <a:sym typeface="Courier New"/>
              </a:rPr>
              <a:t>// load the cookie-parsing middleware</a:t>
            </a:r>
            <a:endParaRPr sz="1600">
              <a:solidFill>
                <a:srgbClr val="708090"/>
              </a:solidFill>
              <a:highlight>
                <a:srgbClr val="F7F7F7"/>
              </a:highlight>
              <a:latin typeface="Courier New"/>
              <a:ea typeface="Courier New"/>
              <a:cs typeface="Courier New"/>
              <a:sym typeface="Courier New"/>
            </a:endParaRPr>
          </a:p>
          <a:p>
            <a:pPr marL="0" marR="139700" lvl="0" indent="0" algn="l" rtl="0">
              <a:lnSpc>
                <a:spcPct val="150000"/>
              </a:lnSpc>
              <a:spcBef>
                <a:spcPts val="500"/>
              </a:spcBef>
              <a:spcAft>
                <a:spcPts val="0"/>
              </a:spcAft>
              <a:buClr>
                <a:schemeClr val="dk1"/>
              </a:buClr>
              <a:buSzPts val="1100"/>
              <a:buFont typeface="Arial"/>
              <a:buNone/>
            </a:pPr>
            <a:r>
              <a:rPr lang="es" sz="1600">
                <a:solidFill>
                  <a:schemeClr val="dk1"/>
                </a:solidFill>
                <a:highlight>
                  <a:srgbClr val="F7F7F7"/>
                </a:highlight>
                <a:latin typeface="Courier New"/>
                <a:ea typeface="Courier New"/>
                <a:cs typeface="Courier New"/>
                <a:sym typeface="Courier New"/>
              </a:rPr>
              <a:t>app</a:t>
            </a:r>
            <a:r>
              <a:rPr lang="es" sz="1600">
                <a:solidFill>
                  <a:srgbClr val="999999"/>
                </a:solidFill>
                <a:highlight>
                  <a:srgbClr val="F7F7F7"/>
                </a:highlight>
                <a:latin typeface="Courier New"/>
                <a:ea typeface="Courier New"/>
                <a:cs typeface="Courier New"/>
                <a:sym typeface="Courier New"/>
              </a:rPr>
              <a:t>.</a:t>
            </a:r>
            <a:r>
              <a:rPr lang="es" sz="1600">
                <a:solidFill>
                  <a:srgbClr val="DD4A68"/>
                </a:solidFill>
                <a:highlight>
                  <a:srgbClr val="F7F7F7"/>
                </a:highlight>
                <a:latin typeface="Courier New"/>
                <a:ea typeface="Courier New"/>
                <a:cs typeface="Courier New"/>
                <a:sym typeface="Courier New"/>
              </a:rPr>
              <a:t>use</a:t>
            </a:r>
            <a:r>
              <a:rPr lang="es" sz="1600">
                <a:solidFill>
                  <a:srgbClr val="999999"/>
                </a:solidFill>
                <a:highlight>
                  <a:srgbClr val="F7F7F7"/>
                </a:highlight>
                <a:latin typeface="Courier New"/>
                <a:ea typeface="Courier New"/>
                <a:cs typeface="Courier New"/>
                <a:sym typeface="Courier New"/>
              </a:rPr>
              <a:t>(</a:t>
            </a:r>
            <a:r>
              <a:rPr lang="es" sz="1600">
                <a:solidFill>
                  <a:srgbClr val="DD4A68"/>
                </a:solidFill>
                <a:highlight>
                  <a:srgbClr val="F7F7F7"/>
                </a:highlight>
                <a:latin typeface="Courier New"/>
                <a:ea typeface="Courier New"/>
                <a:cs typeface="Courier New"/>
                <a:sym typeface="Courier New"/>
              </a:rPr>
              <a:t>cookieParser</a:t>
            </a:r>
            <a:r>
              <a:rPr lang="es" sz="1600">
                <a:solidFill>
                  <a:srgbClr val="999999"/>
                </a:solidFill>
                <a:highlight>
                  <a:srgbClr val="F7F7F7"/>
                </a:highlight>
                <a:latin typeface="Courier New"/>
                <a:ea typeface="Courier New"/>
                <a:cs typeface="Courier New"/>
                <a:sym typeface="Courier New"/>
              </a:rPr>
              <a:t>());</a:t>
            </a:r>
            <a:endParaRPr sz="1600">
              <a:solidFill>
                <a:srgbClr val="999999"/>
              </a:solidFill>
              <a:highlight>
                <a:srgbClr val="F7F7F7"/>
              </a:highlight>
              <a:latin typeface="Courier New"/>
              <a:ea typeface="Courier New"/>
              <a:cs typeface="Courier New"/>
              <a:sym typeface="Courier New"/>
            </a:endParaRPr>
          </a:p>
          <a:p>
            <a:pPr marL="0" lvl="0" indent="0" algn="l" rtl="0">
              <a:spcBef>
                <a:spcPts val="500"/>
              </a:spcBef>
              <a:spcAft>
                <a:spcPts val="0"/>
              </a:spcAft>
              <a:buNone/>
            </a:pPr>
            <a:endParaRPr sz="1600">
              <a:solidFill>
                <a:srgbClr val="4FBF40"/>
              </a:solidFill>
              <a:highlight>
                <a:srgbClr val="272727"/>
              </a:highlight>
              <a:latin typeface="Courier New"/>
              <a:ea typeface="Courier New"/>
              <a:cs typeface="Courier New"/>
              <a:sym typeface="Courier New"/>
            </a:endParaRPr>
          </a:p>
          <a:p>
            <a:pPr marL="139700" marR="139700" lvl="0" indent="0" algn="l" rtl="0">
              <a:lnSpc>
                <a:spcPct val="150000"/>
              </a:lnSpc>
              <a:spcBef>
                <a:spcPts val="500"/>
              </a:spcBef>
              <a:spcAft>
                <a:spcPts val="0"/>
              </a:spcAft>
              <a:buNone/>
            </a:pPr>
            <a:endParaRPr sz="1600">
              <a:solidFill>
                <a:schemeClr val="dk1"/>
              </a:solidFill>
              <a:highlight>
                <a:srgbClr val="272727"/>
              </a:highlight>
              <a:latin typeface="Courier New"/>
              <a:ea typeface="Courier New"/>
              <a:cs typeface="Courier New"/>
              <a:sym typeface="Courier New"/>
            </a:endParaRPr>
          </a:p>
          <a:p>
            <a:pPr marL="0" lvl="0" indent="0" algn="l" rtl="0">
              <a:lnSpc>
                <a:spcPct val="150000"/>
              </a:lnSpc>
              <a:spcBef>
                <a:spcPts val="500"/>
              </a:spcBef>
              <a:spcAft>
                <a:spcPts val="0"/>
              </a:spcAft>
              <a:buNone/>
            </a:pPr>
            <a:endParaRPr sz="1600">
              <a:solidFill>
                <a:srgbClr val="4FBF40"/>
              </a:solidFill>
              <a:latin typeface="Courier New"/>
              <a:ea typeface="Courier New"/>
              <a:cs typeface="Courier New"/>
              <a:sym typeface="Courier New"/>
            </a:endParaRPr>
          </a:p>
        </p:txBody>
      </p:sp>
    </p:spTree>
    <p:extLst>
      <p:ext uri="{BB962C8B-B14F-4D97-AF65-F5344CB8AC3E}">
        <p14:creationId xmlns:p14="http://schemas.microsoft.com/office/powerpoint/2010/main" val="870577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41A91-661C-D60A-DC73-9A283B853D9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BB81EAA-C66B-B35D-C110-78BF8D429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35;p133">
            <a:extLst>
              <a:ext uri="{FF2B5EF4-FFF2-40B4-BE49-F238E27FC236}">
                <a16:creationId xmlns:a16="http://schemas.microsoft.com/office/drawing/2014/main" id="{0962A15E-76FF-5A70-AD6F-D534B96D4797}"/>
              </a:ext>
            </a:extLst>
          </p:cNvPr>
          <p:cNvSpPr txBox="1"/>
          <p:nvPr/>
        </p:nvSpPr>
        <p:spPr>
          <a:xfrm>
            <a:off x="2985300" y="2713520"/>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lt1"/>
                </a:solidFill>
                <a:latin typeface="DM Sans"/>
                <a:ea typeface="DM Sans"/>
                <a:cs typeface="DM Sans"/>
                <a:sym typeface="DM Sans"/>
              </a:rPr>
              <a:t>Middleware de carga de archivos: </a:t>
            </a:r>
            <a:r>
              <a:rPr lang="es" sz="4000" b="1" dirty="0">
                <a:solidFill>
                  <a:srgbClr val="83AEFB"/>
                </a:solidFill>
                <a:latin typeface="DM Sans"/>
                <a:ea typeface="DM Sans"/>
                <a:cs typeface="DM Sans"/>
                <a:sym typeface="DM Sans"/>
              </a:rPr>
              <a:t>MULTER</a:t>
            </a:r>
            <a:endParaRPr sz="4000" b="1" i="0" u="none" strike="noStrike" cap="none" dirty="0">
              <a:solidFill>
                <a:srgbClr val="83AEFB"/>
              </a:solidFill>
              <a:latin typeface="DM Sans"/>
              <a:ea typeface="DM Sans"/>
              <a:cs typeface="DM Sans"/>
              <a:sym typeface="DM Sans"/>
            </a:endParaRPr>
          </a:p>
        </p:txBody>
      </p:sp>
    </p:spTree>
    <p:extLst>
      <p:ext uri="{BB962C8B-B14F-4D97-AF65-F5344CB8AC3E}">
        <p14:creationId xmlns:p14="http://schemas.microsoft.com/office/powerpoint/2010/main" val="2807805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3CB72-EC1A-2F24-CB83-B8D7C5E8E7D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2A1F5FE-995C-3FBA-C816-2DC1296CE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40;p134">
            <a:extLst>
              <a:ext uri="{FF2B5EF4-FFF2-40B4-BE49-F238E27FC236}">
                <a16:creationId xmlns:a16="http://schemas.microsoft.com/office/drawing/2014/main" id="{B02C977C-916D-6FFD-20E1-E7E56AE5C29C}"/>
              </a:ext>
            </a:extLst>
          </p:cNvPr>
          <p:cNvSpPr txBox="1"/>
          <p:nvPr/>
        </p:nvSpPr>
        <p:spPr>
          <a:xfrm>
            <a:off x="1727232" y="1525954"/>
            <a:ext cx="5041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¿Qué es multer?</a:t>
            </a:r>
            <a:endParaRPr sz="4000" b="1" i="0" u="none" strike="noStrike" cap="none" dirty="0">
              <a:solidFill>
                <a:schemeClr val="bg1"/>
              </a:solidFill>
              <a:latin typeface="DM Sans"/>
              <a:ea typeface="DM Sans"/>
              <a:cs typeface="DM Sans"/>
              <a:sym typeface="DM Sans"/>
            </a:endParaRPr>
          </a:p>
        </p:txBody>
      </p:sp>
      <p:sp>
        <p:nvSpPr>
          <p:cNvPr id="3" name="Google Shape;641;p134">
            <a:extLst>
              <a:ext uri="{FF2B5EF4-FFF2-40B4-BE49-F238E27FC236}">
                <a16:creationId xmlns:a16="http://schemas.microsoft.com/office/drawing/2014/main" id="{F4FA26B1-7145-BA5A-B340-0FEF0CFD32D5}"/>
              </a:ext>
            </a:extLst>
          </p:cNvPr>
          <p:cNvSpPr txBox="1"/>
          <p:nvPr/>
        </p:nvSpPr>
        <p:spPr>
          <a:xfrm>
            <a:off x="1727232" y="2547104"/>
            <a:ext cx="4730100" cy="247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Multer es un </a:t>
            </a:r>
            <a:r>
              <a:rPr lang="es" sz="1350" b="1">
                <a:solidFill>
                  <a:schemeClr val="bg1"/>
                </a:solidFill>
                <a:latin typeface="DM Sans"/>
                <a:ea typeface="DM Sans"/>
                <a:cs typeface="DM Sans"/>
                <a:sym typeface="DM Sans"/>
              </a:rPr>
              <a:t>middleware de terceros</a:t>
            </a:r>
            <a:r>
              <a:rPr lang="es" sz="1350">
                <a:solidFill>
                  <a:schemeClr val="bg1"/>
                </a:solidFill>
                <a:latin typeface="DM Sans"/>
                <a:ea typeface="DM Sans"/>
                <a:cs typeface="DM Sans"/>
                <a:sym typeface="DM Sans"/>
              </a:rPr>
              <a:t>, pensado para poder realizar carga de archivos al servidor. </a:t>
            </a: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En ocasiones el cliente necesitará subir una imagen, un vídeo o un archivo, según sea nuestra aplicación, ello nos lleva a configurar nuestro servidor para soportar estos archivos y poder almacenarlos en donde nosotros le indiquemos. </a:t>
            </a: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Al ser de terceros, necesitaremos instalarlo para poder utilizarlo.</a:t>
            </a:r>
            <a:endParaRPr sz="1350">
              <a:solidFill>
                <a:schemeClr val="bg1"/>
              </a:solidFill>
              <a:latin typeface="DM Sans"/>
              <a:ea typeface="DM Sans"/>
              <a:cs typeface="DM Sans"/>
              <a:sym typeface="DM Sans"/>
            </a:endParaRPr>
          </a:p>
        </p:txBody>
      </p:sp>
      <p:pic>
        <p:nvPicPr>
          <p:cNvPr id="4" name="Google Shape;642;p134">
            <a:extLst>
              <a:ext uri="{FF2B5EF4-FFF2-40B4-BE49-F238E27FC236}">
                <a16:creationId xmlns:a16="http://schemas.microsoft.com/office/drawing/2014/main" id="{F7BDC688-8253-6714-DA99-BAC62C3A30EB}"/>
              </a:ext>
            </a:extLst>
          </p:cNvPr>
          <p:cNvPicPr preferRelativeResize="0"/>
          <p:nvPr/>
        </p:nvPicPr>
        <p:blipFill>
          <a:blip r:embed="rId3">
            <a:alphaModFix/>
          </a:blip>
          <a:stretch>
            <a:fillRect/>
          </a:stretch>
        </p:blipFill>
        <p:spPr>
          <a:xfrm>
            <a:off x="6585532" y="2368829"/>
            <a:ext cx="3651376" cy="2025373"/>
          </a:xfrm>
          <a:prstGeom prst="rect">
            <a:avLst/>
          </a:prstGeom>
          <a:noFill/>
          <a:ln>
            <a:noFill/>
          </a:ln>
        </p:spPr>
      </p:pic>
    </p:spTree>
    <p:extLst>
      <p:ext uri="{BB962C8B-B14F-4D97-AF65-F5344CB8AC3E}">
        <p14:creationId xmlns:p14="http://schemas.microsoft.com/office/powerpoint/2010/main" val="1577142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9A47-3FC7-A381-DC8E-BCB9471D6D4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FB69BFE-A2F3-1D80-0200-F39EBF3E3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47;p135">
            <a:extLst>
              <a:ext uri="{FF2B5EF4-FFF2-40B4-BE49-F238E27FC236}">
                <a16:creationId xmlns:a16="http://schemas.microsoft.com/office/drawing/2014/main" id="{2A838003-A0E4-E08B-128A-F7D052E05B0B}"/>
              </a:ext>
            </a:extLst>
          </p:cNvPr>
          <p:cNvSpPr txBox="1"/>
          <p:nvPr/>
        </p:nvSpPr>
        <p:spPr>
          <a:xfrm>
            <a:off x="2985300" y="2505450"/>
            <a:ext cx="62214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Instalación y configuración de MULTER</a:t>
            </a:r>
            <a:endParaRPr sz="4000" b="1" i="0" u="none" strike="noStrike" cap="none"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19214234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BC253-9CAD-85E2-5C8F-C3466E11D23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8B44FF5-9D64-6663-81D2-2F5524097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62;p137">
            <a:extLst>
              <a:ext uri="{FF2B5EF4-FFF2-40B4-BE49-F238E27FC236}">
                <a16:creationId xmlns:a16="http://schemas.microsoft.com/office/drawing/2014/main" id="{05E5A8E2-5EE9-5E73-7D36-EEBCEAC17B5C}"/>
              </a:ext>
            </a:extLst>
          </p:cNvPr>
          <p:cNvSpPr txBox="1"/>
          <p:nvPr/>
        </p:nvSpPr>
        <p:spPr>
          <a:xfrm>
            <a:off x="1736110" y="1561465"/>
            <a:ext cx="5041200" cy="738900"/>
          </a:xfrm>
          <a:prstGeom prst="rect">
            <a:avLst/>
          </a:prstGeom>
          <a:noFill/>
          <a:ln>
            <a:noFill/>
          </a:ln>
        </p:spPr>
        <p:txBody>
          <a:bodyPr spcFirstLastPara="1" wrap="square" lIns="91425" tIns="91425" rIns="91425" bIns="91425" anchor="t" anchorCtr="0">
            <a:spAutoFit/>
          </a:bodyPr>
          <a:lstStyle/>
          <a:p>
            <a:pPr marL="457200" marR="0" lvl="0" indent="-482600" algn="l" rtl="0">
              <a:lnSpc>
                <a:spcPct val="90000"/>
              </a:lnSpc>
              <a:spcBef>
                <a:spcPts val="0"/>
              </a:spcBef>
              <a:spcAft>
                <a:spcPts val="0"/>
              </a:spcAft>
              <a:buClr>
                <a:schemeClr val="dk1"/>
              </a:buClr>
              <a:buSzPts val="4000"/>
              <a:buFont typeface="DM Sans"/>
              <a:buAutoNum type="arabicPeriod"/>
            </a:pPr>
            <a:r>
              <a:rPr lang="es" sz="4000" b="1" dirty="0">
                <a:solidFill>
                  <a:schemeClr val="bg1"/>
                </a:solidFill>
                <a:latin typeface="DM Sans"/>
                <a:ea typeface="DM Sans"/>
                <a:cs typeface="DM Sans"/>
                <a:sym typeface="DM Sans"/>
              </a:rPr>
              <a:t>Instalar multer</a:t>
            </a:r>
            <a:endParaRPr sz="4000" b="1" i="0" u="none" strike="noStrike" cap="none" dirty="0">
              <a:solidFill>
                <a:schemeClr val="bg1"/>
              </a:solidFill>
              <a:latin typeface="DM Sans"/>
              <a:ea typeface="DM Sans"/>
              <a:cs typeface="DM Sans"/>
              <a:sym typeface="DM Sans"/>
            </a:endParaRPr>
          </a:p>
        </p:txBody>
      </p:sp>
      <p:sp>
        <p:nvSpPr>
          <p:cNvPr id="3" name="Google Shape;663;p137">
            <a:extLst>
              <a:ext uri="{FF2B5EF4-FFF2-40B4-BE49-F238E27FC236}">
                <a16:creationId xmlns:a16="http://schemas.microsoft.com/office/drawing/2014/main" id="{318BE641-6BEA-0208-89A5-932B0AFD90F2}"/>
              </a:ext>
            </a:extLst>
          </p:cNvPr>
          <p:cNvSpPr txBox="1"/>
          <p:nvPr/>
        </p:nvSpPr>
        <p:spPr>
          <a:xfrm>
            <a:off x="1736110" y="2582615"/>
            <a:ext cx="47301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MULTER es una dependencia de terceros, de manera que, al igual que express, necesitaremos instalarlo dentro de nuestro package.json con el comando: </a:t>
            </a:r>
            <a:endParaRPr sz="1350">
              <a:solidFill>
                <a:schemeClr val="bg1"/>
              </a:solidFill>
              <a:latin typeface="DM Sans"/>
              <a:ea typeface="DM Sans"/>
              <a:cs typeface="DM Sans"/>
              <a:sym typeface="DM Sans"/>
            </a:endParaRPr>
          </a:p>
        </p:txBody>
      </p:sp>
      <p:pic>
        <p:nvPicPr>
          <p:cNvPr id="4" name="Google Shape;664;p137">
            <a:extLst>
              <a:ext uri="{FF2B5EF4-FFF2-40B4-BE49-F238E27FC236}">
                <a16:creationId xmlns:a16="http://schemas.microsoft.com/office/drawing/2014/main" id="{74D90EA3-9CD4-C34B-F35B-61FF8694DA41}"/>
              </a:ext>
            </a:extLst>
          </p:cNvPr>
          <p:cNvPicPr preferRelativeResize="0"/>
          <p:nvPr/>
        </p:nvPicPr>
        <p:blipFill rotWithShape="1">
          <a:blip r:embed="rId3">
            <a:alphaModFix/>
          </a:blip>
          <a:srcRect r="8759"/>
          <a:stretch/>
        </p:blipFill>
        <p:spPr>
          <a:xfrm>
            <a:off x="2394260" y="3515165"/>
            <a:ext cx="3015750" cy="419100"/>
          </a:xfrm>
          <a:prstGeom prst="rect">
            <a:avLst/>
          </a:prstGeom>
          <a:noFill/>
          <a:ln>
            <a:noFill/>
          </a:ln>
        </p:spPr>
      </p:pic>
      <p:pic>
        <p:nvPicPr>
          <p:cNvPr id="6" name="Google Shape;665;p137">
            <a:extLst>
              <a:ext uri="{FF2B5EF4-FFF2-40B4-BE49-F238E27FC236}">
                <a16:creationId xmlns:a16="http://schemas.microsoft.com/office/drawing/2014/main" id="{B4C92C19-65AA-46A9-ACED-69202BF6ED85}"/>
              </a:ext>
            </a:extLst>
          </p:cNvPr>
          <p:cNvPicPr preferRelativeResize="0"/>
          <p:nvPr/>
        </p:nvPicPr>
        <p:blipFill rotWithShape="1">
          <a:blip r:embed="rId4">
            <a:alphaModFix/>
          </a:blip>
          <a:srcRect r="43646"/>
          <a:stretch/>
        </p:blipFill>
        <p:spPr>
          <a:xfrm>
            <a:off x="6850435" y="2473903"/>
            <a:ext cx="3357300" cy="2279775"/>
          </a:xfrm>
          <a:prstGeom prst="rect">
            <a:avLst/>
          </a:prstGeom>
          <a:noFill/>
          <a:ln>
            <a:noFill/>
          </a:ln>
        </p:spPr>
      </p:pic>
      <p:sp>
        <p:nvSpPr>
          <p:cNvPr id="7" name="Google Shape;666;p137">
            <a:extLst>
              <a:ext uri="{FF2B5EF4-FFF2-40B4-BE49-F238E27FC236}">
                <a16:creationId xmlns:a16="http://schemas.microsoft.com/office/drawing/2014/main" id="{C2D19439-DEFE-8AEB-3B95-DAE1E878130A}"/>
              </a:ext>
            </a:extLst>
          </p:cNvPr>
          <p:cNvSpPr txBox="1"/>
          <p:nvPr/>
        </p:nvSpPr>
        <p:spPr>
          <a:xfrm>
            <a:off x="1736110" y="4058615"/>
            <a:ext cx="48858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Debemos corroborar que se encuentre dentro de las dependencias al mismo nivel que tenemos express instalado. </a:t>
            </a:r>
            <a:endParaRPr sz="135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34907634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59FF6-61E0-8189-AC52-45726D0DABB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5EFA7CA-7CCF-667F-0857-EE087B95A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71;p138">
            <a:extLst>
              <a:ext uri="{FF2B5EF4-FFF2-40B4-BE49-F238E27FC236}">
                <a16:creationId xmlns:a16="http://schemas.microsoft.com/office/drawing/2014/main" id="{29B0CE25-B394-DBFF-E85C-2776767A74CD}"/>
              </a:ext>
            </a:extLst>
          </p:cNvPr>
          <p:cNvSpPr txBox="1"/>
          <p:nvPr/>
        </p:nvSpPr>
        <p:spPr>
          <a:xfrm>
            <a:off x="2223219" y="1669504"/>
            <a:ext cx="80559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chemeClr val="bg1"/>
                </a:solidFill>
                <a:latin typeface="DM Sans"/>
                <a:ea typeface="DM Sans"/>
                <a:cs typeface="DM Sans"/>
                <a:sym typeface="DM Sans"/>
              </a:rPr>
              <a:t>2. </a:t>
            </a:r>
            <a:r>
              <a:rPr lang="es" sz="3500" b="1" dirty="0">
                <a:solidFill>
                  <a:schemeClr val="bg1"/>
                </a:solidFill>
                <a:latin typeface="DM Sans"/>
                <a:ea typeface="DM Sans"/>
                <a:cs typeface="DM Sans"/>
                <a:sym typeface="DM Sans"/>
              </a:rPr>
              <a:t>Configurar multer en el proyecto actual  </a:t>
            </a:r>
            <a:endParaRPr sz="3500" b="1" i="0" u="none" strike="noStrike" cap="none" dirty="0">
              <a:solidFill>
                <a:schemeClr val="bg1"/>
              </a:solidFill>
              <a:latin typeface="DM Sans"/>
              <a:ea typeface="DM Sans"/>
              <a:cs typeface="DM Sans"/>
              <a:sym typeface="DM Sans"/>
            </a:endParaRPr>
          </a:p>
        </p:txBody>
      </p:sp>
      <p:sp>
        <p:nvSpPr>
          <p:cNvPr id="3" name="Google Shape;672;p138">
            <a:extLst>
              <a:ext uri="{FF2B5EF4-FFF2-40B4-BE49-F238E27FC236}">
                <a16:creationId xmlns:a16="http://schemas.microsoft.com/office/drawing/2014/main" id="{A761EFAB-6639-7B97-C964-3C7D6F4A7EE5}"/>
              </a:ext>
            </a:extLst>
          </p:cNvPr>
          <p:cNvSpPr txBox="1"/>
          <p:nvPr/>
        </p:nvSpPr>
        <p:spPr>
          <a:xfrm>
            <a:off x="2223219" y="3081279"/>
            <a:ext cx="74778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Una vez que tenemos MULTER instalado, podemos importarlo en nuestro proyecto y configurarlo donde lo necesitemos (puede ser directamente en app, o bien se recomienda hacerlo en un archivo al mismo nivel de app llamado “utils”)</a:t>
            </a: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Contar con un uploader externo a app.js, brindará más dinamismo al momento de utilizarlo, ya que podemos colocarlo en el router que necesitemos y no necesariamente instanciarlo a nivel general</a:t>
            </a:r>
            <a:endParaRPr sz="135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3807049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431C7-6EB2-5AA7-F07C-44118A982AE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C073C96-98E0-E7D4-DA12-079421FD61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pic>
        <p:nvPicPr>
          <p:cNvPr id="2" name="Google Shape;677;p139">
            <a:extLst>
              <a:ext uri="{FF2B5EF4-FFF2-40B4-BE49-F238E27FC236}">
                <a16:creationId xmlns:a16="http://schemas.microsoft.com/office/drawing/2014/main" id="{398E122D-CCFF-E011-C49E-638DD67070E3}"/>
              </a:ext>
            </a:extLst>
          </p:cNvPr>
          <p:cNvPicPr preferRelativeResize="0"/>
          <p:nvPr/>
        </p:nvPicPr>
        <p:blipFill>
          <a:blip r:embed="rId3">
            <a:alphaModFix/>
          </a:blip>
          <a:stretch>
            <a:fillRect/>
          </a:stretch>
        </p:blipFill>
        <p:spPr>
          <a:xfrm>
            <a:off x="2369510" y="2316440"/>
            <a:ext cx="6553376" cy="3216675"/>
          </a:xfrm>
          <a:prstGeom prst="rect">
            <a:avLst/>
          </a:prstGeom>
          <a:noFill/>
          <a:ln>
            <a:noFill/>
          </a:ln>
        </p:spPr>
      </p:pic>
      <p:sp>
        <p:nvSpPr>
          <p:cNvPr id="3" name="Google Shape;678;p139">
            <a:extLst>
              <a:ext uri="{FF2B5EF4-FFF2-40B4-BE49-F238E27FC236}">
                <a16:creationId xmlns:a16="http://schemas.microsoft.com/office/drawing/2014/main" id="{8991F9F9-05C0-0ACB-EA84-CEFEF3DC2FD4}"/>
              </a:ext>
            </a:extLst>
          </p:cNvPr>
          <p:cNvSpPr txBox="1"/>
          <p:nvPr/>
        </p:nvSpPr>
        <p:spPr>
          <a:xfrm>
            <a:off x="1743248" y="936440"/>
            <a:ext cx="79737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3500" b="1" dirty="0">
                <a:solidFill>
                  <a:schemeClr val="lt1"/>
                </a:solidFill>
                <a:latin typeface="DM Sans"/>
                <a:ea typeface="DM Sans"/>
                <a:cs typeface="DM Sans"/>
                <a:sym typeface="DM Sans"/>
              </a:rPr>
              <a:t>Ejemplo: configurando multer para poder utilizar un “uploader”</a:t>
            </a:r>
            <a:endParaRPr sz="35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3959823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FB15F-4EF1-BD51-2011-8D6E586274BD}"/>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B8C9204-5D0D-B795-17DF-43541DE92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83;p140">
            <a:extLst>
              <a:ext uri="{FF2B5EF4-FFF2-40B4-BE49-F238E27FC236}">
                <a16:creationId xmlns:a16="http://schemas.microsoft.com/office/drawing/2014/main" id="{7CF51984-6A18-9A7A-83DE-CCB3D5BD150A}"/>
              </a:ext>
            </a:extLst>
          </p:cNvPr>
          <p:cNvSpPr txBox="1"/>
          <p:nvPr/>
        </p:nvSpPr>
        <p:spPr>
          <a:xfrm>
            <a:off x="2037950" y="1719043"/>
            <a:ext cx="5041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None/>
            </a:pPr>
            <a:r>
              <a:rPr lang="es" sz="4000" b="1" dirty="0">
                <a:solidFill>
                  <a:schemeClr val="bg1"/>
                </a:solidFill>
                <a:latin typeface="DM Sans"/>
                <a:ea typeface="DM Sans"/>
                <a:cs typeface="DM Sans"/>
                <a:sym typeface="DM Sans"/>
              </a:rPr>
              <a:t>3. Utilizar uploader</a:t>
            </a:r>
            <a:endParaRPr sz="4000" b="1" i="0" u="none" strike="noStrike" cap="none" dirty="0">
              <a:solidFill>
                <a:schemeClr val="bg1"/>
              </a:solidFill>
              <a:latin typeface="DM Sans"/>
              <a:ea typeface="DM Sans"/>
              <a:cs typeface="DM Sans"/>
              <a:sym typeface="DM Sans"/>
            </a:endParaRPr>
          </a:p>
        </p:txBody>
      </p:sp>
      <p:sp>
        <p:nvSpPr>
          <p:cNvPr id="3" name="Google Shape;684;p140">
            <a:extLst>
              <a:ext uri="{FF2B5EF4-FFF2-40B4-BE49-F238E27FC236}">
                <a16:creationId xmlns:a16="http://schemas.microsoft.com/office/drawing/2014/main" id="{9332BC36-5AD3-AEE8-A53F-341B0C666B99}"/>
              </a:ext>
            </a:extLst>
          </p:cNvPr>
          <p:cNvSpPr txBox="1"/>
          <p:nvPr/>
        </p:nvSpPr>
        <p:spPr>
          <a:xfrm>
            <a:off x="2037950" y="2511593"/>
            <a:ext cx="7911000" cy="247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Una vez que nuestro uploader está listo para utilizarse, podemos importarlo en el router que necesitemos y colocarlo en la ruta donde lo necesitemos, recuerda que, al ser un middleware, éste va enmedio de la ruta y de la función callback (req,res). </a:t>
            </a: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a:solidFill>
                  <a:schemeClr val="bg1"/>
                </a:solidFill>
                <a:latin typeface="DM Sans"/>
                <a:ea typeface="DM Sans"/>
                <a:cs typeface="DM Sans"/>
                <a:sym typeface="DM Sans"/>
              </a:rPr>
              <a:t>Podemos utilizar el uploader de dos formas principalmente:</a:t>
            </a:r>
            <a:endParaRPr sz="135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uploader.single(‘nombre del campo’): permitirá subir un único archivo, su resultado estará en </a:t>
            </a:r>
            <a:r>
              <a:rPr lang="es" sz="1350" b="1">
                <a:solidFill>
                  <a:schemeClr val="bg1"/>
                </a:solidFill>
                <a:latin typeface="DM Sans"/>
                <a:ea typeface="DM Sans"/>
                <a:cs typeface="DM Sans"/>
                <a:sym typeface="DM Sans"/>
              </a:rPr>
              <a:t>req.file</a:t>
            </a:r>
            <a:endParaRPr sz="1350" b="1">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solidFill>
                  <a:schemeClr val="bg1"/>
                </a:solidFill>
                <a:latin typeface="DM Sans"/>
                <a:ea typeface="DM Sans"/>
                <a:cs typeface="DM Sans"/>
                <a:sym typeface="DM Sans"/>
              </a:rPr>
              <a:t>uploader.array(‘nombre de campos’): permitirá subir múltiples archivos, su resultado estará en </a:t>
            </a:r>
            <a:r>
              <a:rPr lang="es" sz="1350" b="1">
                <a:solidFill>
                  <a:schemeClr val="bg1"/>
                </a:solidFill>
                <a:latin typeface="DM Sans"/>
                <a:ea typeface="DM Sans"/>
                <a:cs typeface="DM Sans"/>
                <a:sym typeface="DM Sans"/>
              </a:rPr>
              <a:t>req.files</a:t>
            </a:r>
            <a:endParaRPr sz="1350">
              <a:solidFill>
                <a:schemeClr val="bg1"/>
              </a:solidFill>
              <a:latin typeface="DM Sans"/>
              <a:ea typeface="DM Sans"/>
              <a:cs typeface="DM Sans"/>
              <a:sym typeface="DM Sans"/>
            </a:endParaRPr>
          </a:p>
        </p:txBody>
      </p:sp>
      <p:pic>
        <p:nvPicPr>
          <p:cNvPr id="4" name="Google Shape;685;p140">
            <a:extLst>
              <a:ext uri="{FF2B5EF4-FFF2-40B4-BE49-F238E27FC236}">
                <a16:creationId xmlns:a16="http://schemas.microsoft.com/office/drawing/2014/main" id="{16E0444A-5769-F8E6-1A6A-E5C36617F6E3}"/>
              </a:ext>
            </a:extLst>
          </p:cNvPr>
          <p:cNvPicPr preferRelativeResize="0"/>
          <p:nvPr/>
        </p:nvPicPr>
        <p:blipFill>
          <a:blip r:embed="rId3">
            <a:alphaModFix/>
          </a:blip>
          <a:stretch>
            <a:fillRect/>
          </a:stretch>
        </p:blipFill>
        <p:spPr>
          <a:xfrm>
            <a:off x="3214575" y="3309012"/>
            <a:ext cx="4792225" cy="239975"/>
          </a:xfrm>
          <a:prstGeom prst="rect">
            <a:avLst/>
          </a:prstGeom>
          <a:noFill/>
          <a:ln>
            <a:noFill/>
          </a:ln>
        </p:spPr>
      </p:pic>
    </p:spTree>
    <p:extLst>
      <p:ext uri="{BB962C8B-B14F-4D97-AF65-F5344CB8AC3E}">
        <p14:creationId xmlns:p14="http://schemas.microsoft.com/office/powerpoint/2010/main" val="30898650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9890-1FBC-A5FB-303A-591A566CCEF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CE798AB-B873-965A-E08C-8C46AA344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pic>
        <p:nvPicPr>
          <p:cNvPr id="2" name="Google Shape;690;p141">
            <a:extLst>
              <a:ext uri="{FF2B5EF4-FFF2-40B4-BE49-F238E27FC236}">
                <a16:creationId xmlns:a16="http://schemas.microsoft.com/office/drawing/2014/main" id="{204F1366-10A6-206B-3851-E5604CA3751B}"/>
              </a:ext>
            </a:extLst>
          </p:cNvPr>
          <p:cNvPicPr preferRelativeResize="0"/>
          <p:nvPr/>
        </p:nvPicPr>
        <p:blipFill>
          <a:blip r:embed="rId3">
            <a:alphaModFix/>
          </a:blip>
          <a:stretch>
            <a:fillRect/>
          </a:stretch>
        </p:blipFill>
        <p:spPr>
          <a:xfrm>
            <a:off x="2776716" y="1992786"/>
            <a:ext cx="6091175" cy="3614999"/>
          </a:xfrm>
          <a:prstGeom prst="rect">
            <a:avLst/>
          </a:prstGeom>
          <a:noFill/>
          <a:ln>
            <a:noFill/>
          </a:ln>
        </p:spPr>
      </p:pic>
      <p:sp>
        <p:nvSpPr>
          <p:cNvPr id="3" name="Google Shape;691;p141">
            <a:extLst>
              <a:ext uri="{FF2B5EF4-FFF2-40B4-BE49-F238E27FC236}">
                <a16:creationId xmlns:a16="http://schemas.microsoft.com/office/drawing/2014/main" id="{84FCEA8E-DD3D-6A11-BB1E-17E78BD6E84C}"/>
              </a:ext>
            </a:extLst>
          </p:cNvPr>
          <p:cNvSpPr txBox="1"/>
          <p:nvPr/>
        </p:nvSpPr>
        <p:spPr>
          <a:xfrm>
            <a:off x="2369231" y="796986"/>
            <a:ext cx="71781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3500" b="1" dirty="0">
                <a:solidFill>
                  <a:schemeClr val="lt1"/>
                </a:solidFill>
                <a:latin typeface="DM Sans"/>
                <a:ea typeface="DM Sans"/>
                <a:cs typeface="DM Sans"/>
                <a:sym typeface="DM Sans"/>
              </a:rPr>
              <a:t>Ejemplo implementación MULTER a partir de su uploader</a:t>
            </a:r>
            <a:endParaRPr sz="35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17338833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81C9-52FB-BB32-F139-06928949943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EBE4578-1ADF-386C-3856-DD3263EBD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sp>
        <p:nvSpPr>
          <p:cNvPr id="2" name="Google Shape;696;p142">
            <a:extLst>
              <a:ext uri="{FF2B5EF4-FFF2-40B4-BE49-F238E27FC236}">
                <a16:creationId xmlns:a16="http://schemas.microsoft.com/office/drawing/2014/main" id="{97EFF2D7-4502-C082-F108-7EA3F2D1F0FF}"/>
              </a:ext>
            </a:extLst>
          </p:cNvPr>
          <p:cNvSpPr txBox="1"/>
          <p:nvPr/>
        </p:nvSpPr>
        <p:spPr>
          <a:xfrm>
            <a:off x="2151230" y="1658212"/>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dirty="0">
                <a:solidFill>
                  <a:srgbClr val="EAFF6A"/>
                </a:solidFill>
                <a:latin typeface="DM Sans"/>
                <a:ea typeface="DM Sans"/>
                <a:cs typeface="DM Sans"/>
                <a:sym typeface="DM Sans"/>
              </a:rPr>
              <a:t>¡Importante!</a:t>
            </a:r>
            <a:endParaRPr sz="4000" b="1" i="0" u="none" strike="noStrike" cap="none" dirty="0">
              <a:solidFill>
                <a:srgbClr val="EAFF6A"/>
              </a:solidFill>
              <a:latin typeface="DM Sans"/>
              <a:ea typeface="DM Sans"/>
              <a:cs typeface="DM Sans"/>
              <a:sym typeface="DM Sans"/>
            </a:endParaRPr>
          </a:p>
        </p:txBody>
      </p:sp>
      <p:sp>
        <p:nvSpPr>
          <p:cNvPr id="3" name="Google Shape;697;p142">
            <a:extLst>
              <a:ext uri="{FF2B5EF4-FFF2-40B4-BE49-F238E27FC236}">
                <a16:creationId xmlns:a16="http://schemas.microsoft.com/office/drawing/2014/main" id="{D0944E3E-09EC-0167-1B13-12B16B162B2F}"/>
              </a:ext>
            </a:extLst>
          </p:cNvPr>
          <p:cNvSpPr txBox="1"/>
          <p:nvPr/>
        </p:nvSpPr>
        <p:spPr>
          <a:xfrm>
            <a:off x="2151230" y="2664787"/>
            <a:ext cx="7169400" cy="249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a:solidFill>
                  <a:schemeClr val="lt1"/>
                </a:solidFill>
                <a:latin typeface="DM Sans"/>
                <a:ea typeface="DM Sans"/>
                <a:cs typeface="DM Sans"/>
                <a:sym typeface="DM Sans"/>
              </a:rPr>
              <a:t>Cuando subimos un archivo (imagen, vídeo, etc), estamos hablando de un flujo de datos. lo cual </a:t>
            </a:r>
            <a:r>
              <a:rPr lang="es" sz="2500" u="sng">
                <a:solidFill>
                  <a:schemeClr val="lt1"/>
                </a:solidFill>
                <a:latin typeface="DM Sans"/>
                <a:ea typeface="DM Sans"/>
                <a:cs typeface="DM Sans"/>
                <a:sym typeface="DM Sans"/>
              </a:rPr>
              <a:t>no puede plasmarse en un JSON</a:t>
            </a:r>
            <a:r>
              <a:rPr lang="es" sz="2500">
                <a:solidFill>
                  <a:schemeClr val="lt1"/>
                </a:solidFill>
                <a:latin typeface="DM Sans"/>
                <a:ea typeface="DM Sans"/>
                <a:cs typeface="DM Sans"/>
                <a:sym typeface="DM Sans"/>
              </a:rPr>
              <a:t>. Cuando enviamos información a un endpoint donde sabemos que utilizamos MULTER, debemos enviarlo como </a:t>
            </a:r>
            <a:r>
              <a:rPr lang="es" sz="2500" b="1">
                <a:solidFill>
                  <a:schemeClr val="lt1"/>
                </a:solidFill>
                <a:latin typeface="DM Sans"/>
                <a:ea typeface="DM Sans"/>
                <a:cs typeface="DM Sans"/>
                <a:sym typeface="DM Sans"/>
              </a:rPr>
              <a:t>FormData</a:t>
            </a:r>
            <a:r>
              <a:rPr lang="es" sz="2500">
                <a:solidFill>
                  <a:schemeClr val="lt1"/>
                </a:solidFill>
                <a:latin typeface="DM Sans"/>
                <a:ea typeface="DM Sans"/>
                <a:cs typeface="DM Sans"/>
                <a:sym typeface="DM Sans"/>
              </a:rPr>
              <a:t>, no como JSON.</a:t>
            </a:r>
            <a:endParaRPr sz="250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495161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E3AF-8B7C-C914-44C1-904758817BD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94FA521-9780-DD5B-A3E3-84279CD27D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pic>
        <p:nvPicPr>
          <p:cNvPr id="2" name="Google Shape;702;p143">
            <a:extLst>
              <a:ext uri="{FF2B5EF4-FFF2-40B4-BE49-F238E27FC236}">
                <a16:creationId xmlns:a16="http://schemas.microsoft.com/office/drawing/2014/main" id="{456D39AE-E3F1-FDB4-E766-41F621209A6D}"/>
              </a:ext>
            </a:extLst>
          </p:cNvPr>
          <p:cNvPicPr preferRelativeResize="0"/>
          <p:nvPr/>
        </p:nvPicPr>
        <p:blipFill>
          <a:blip r:embed="rId3">
            <a:alphaModFix/>
          </a:blip>
          <a:stretch>
            <a:fillRect/>
          </a:stretch>
        </p:blipFill>
        <p:spPr>
          <a:xfrm>
            <a:off x="1955013" y="1412800"/>
            <a:ext cx="7172224" cy="4032399"/>
          </a:xfrm>
          <a:prstGeom prst="rect">
            <a:avLst/>
          </a:prstGeom>
          <a:noFill/>
          <a:ln>
            <a:noFill/>
          </a:ln>
        </p:spPr>
      </p:pic>
      <p:sp>
        <p:nvSpPr>
          <p:cNvPr id="3" name="Google Shape;703;p143">
            <a:extLst>
              <a:ext uri="{FF2B5EF4-FFF2-40B4-BE49-F238E27FC236}">
                <a16:creationId xmlns:a16="http://schemas.microsoft.com/office/drawing/2014/main" id="{F0665A23-1DC3-38A6-EBAF-1B6A26401425}"/>
              </a:ext>
            </a:extLst>
          </p:cNvPr>
          <p:cNvSpPr txBox="1"/>
          <p:nvPr/>
        </p:nvSpPr>
        <p:spPr>
          <a:xfrm>
            <a:off x="2916725" y="439761"/>
            <a:ext cx="52488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b="1" dirty="0">
                <a:solidFill>
                  <a:schemeClr val="bg1"/>
                </a:solidFill>
              </a:rPr>
              <a:t>Probando MULTER con POSTMAN enviando un FormData</a:t>
            </a:r>
            <a:endParaRPr b="1" dirty="0">
              <a:solidFill>
                <a:schemeClr val="bg1"/>
              </a:solidFill>
            </a:endParaRPr>
          </a:p>
        </p:txBody>
      </p:sp>
    </p:spTree>
    <p:extLst>
      <p:ext uri="{BB962C8B-B14F-4D97-AF65-F5344CB8AC3E}">
        <p14:creationId xmlns:p14="http://schemas.microsoft.com/office/powerpoint/2010/main" val="1437229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DF132-2BB0-BB6F-876A-4B6FF1DDE2B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49C1398-36E4-B505-F4B5-C2EB962D7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7331" y="5894254"/>
            <a:ext cx="2313237" cy="676836"/>
          </a:xfrm>
          <a:prstGeom prst="rect">
            <a:avLst/>
          </a:prstGeom>
        </p:spPr>
      </p:pic>
      <p:pic>
        <p:nvPicPr>
          <p:cNvPr id="3" name="Imagen 2">
            <a:extLst>
              <a:ext uri="{FF2B5EF4-FFF2-40B4-BE49-F238E27FC236}">
                <a16:creationId xmlns:a16="http://schemas.microsoft.com/office/drawing/2014/main" id="{136B1465-1951-EE28-463D-3F7A2A9213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693" y="2165496"/>
            <a:ext cx="4548613" cy="2527007"/>
          </a:xfrm>
          <a:prstGeom prst="rect">
            <a:avLst/>
          </a:prstGeom>
        </p:spPr>
      </p:pic>
    </p:spTree>
    <p:extLst>
      <p:ext uri="{BB962C8B-B14F-4D97-AF65-F5344CB8AC3E}">
        <p14:creationId xmlns:p14="http://schemas.microsoft.com/office/powerpoint/2010/main" val="2198168345"/>
      </p:ext>
    </p:extLst>
  </p:cSld>
  <p:clrMapOvr>
    <a:masterClrMapping/>
  </p:clrMapOvr>
</p:sld>
</file>

<file path=ppt/theme/theme1.xml><?xml version="1.0" encoding="utf-8"?>
<a:theme xmlns:a="http://schemas.openxmlformats.org/drawingml/2006/main" name="Tema de Office">
  <a:themeElements>
    <a:clrScheme name="Violeta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2056</Words>
  <Application>Microsoft Office PowerPoint</Application>
  <PresentationFormat>Panorámica</PresentationFormat>
  <Paragraphs>188</Paragraphs>
  <Slides>40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40</vt:i4>
      </vt:variant>
    </vt:vector>
  </HeadingPairs>
  <TitlesOfParts>
    <vt:vector size="47" baseType="lpstr">
      <vt:lpstr>Arial</vt:lpstr>
      <vt:lpstr>Calibri</vt:lpstr>
      <vt:lpstr>Calibri Light</vt:lpstr>
      <vt:lpstr>Courier New</vt:lpstr>
      <vt:lpstr>DM Sans</vt:lpstr>
      <vt:lpstr>Helvetica Neue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Claudio</dc:creator>
  <cp:lastModifiedBy>Claudio</cp:lastModifiedBy>
  <cp:revision>19</cp:revision>
  <dcterms:created xsi:type="dcterms:W3CDTF">2025-02-27T16:58:24Z</dcterms:created>
  <dcterms:modified xsi:type="dcterms:W3CDTF">2026-05-23T11:13:58Z</dcterms:modified>
</cp:coreProperties>
</file>